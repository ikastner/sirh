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58" r:id="rId5"/>
    <p:sldId id="260" r:id="rId6"/>
    <p:sldId id="259" r:id="rId7"/>
    <p:sldId id="261"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customXml" Target="../customXml/item4.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customXml" Target="../customXml/item3.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60AE6C-2E90-2573-1AB1-AE165D56284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447260FE-1F9F-8A7C-0F07-A16334CF3E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3AACF1D-D6F5-7826-C3B7-44B65DBC3447}"/>
              </a:ext>
            </a:extLst>
          </p:cNvPr>
          <p:cNvSpPr>
            <a:spLocks noGrp="1"/>
          </p:cNvSpPr>
          <p:nvPr>
            <p:ph type="dt" sz="half" idx="10"/>
          </p:nvPr>
        </p:nvSpPr>
        <p:spPr/>
        <p:txBody>
          <a:bodyPr/>
          <a:lstStyle/>
          <a:p>
            <a:fld id="{4F2858F8-25F5-4E1D-89A6-806FC1FF9F95}" type="datetimeFigureOut">
              <a:rPr lang="fr-FR" smtClean="0"/>
              <a:t>16/12/2024</a:t>
            </a:fld>
            <a:endParaRPr lang="fr-FR"/>
          </a:p>
        </p:txBody>
      </p:sp>
      <p:sp>
        <p:nvSpPr>
          <p:cNvPr id="5" name="Espace réservé du pied de page 4">
            <a:extLst>
              <a:ext uri="{FF2B5EF4-FFF2-40B4-BE49-F238E27FC236}">
                <a16:creationId xmlns:a16="http://schemas.microsoft.com/office/drawing/2014/main" id="{281B3A0E-102B-AE53-92C3-EE91B9BD8B3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FD2ABBD-7D0C-3925-1415-D7997A29ECA4}"/>
              </a:ext>
            </a:extLst>
          </p:cNvPr>
          <p:cNvSpPr>
            <a:spLocks noGrp="1"/>
          </p:cNvSpPr>
          <p:nvPr>
            <p:ph type="sldNum" sz="quarter" idx="12"/>
          </p:nvPr>
        </p:nvSpPr>
        <p:spPr/>
        <p:txBody>
          <a:bodyPr/>
          <a:lstStyle/>
          <a:p>
            <a:fld id="{B9FAA2F2-6A1D-4B82-A614-A70A8E09B37F}" type="slidenum">
              <a:rPr lang="fr-FR" smtClean="0"/>
              <a:t>‹N°›</a:t>
            </a:fld>
            <a:endParaRPr lang="fr-FR"/>
          </a:p>
        </p:txBody>
      </p:sp>
    </p:spTree>
    <p:extLst>
      <p:ext uri="{BB962C8B-B14F-4D97-AF65-F5344CB8AC3E}">
        <p14:creationId xmlns:p14="http://schemas.microsoft.com/office/powerpoint/2010/main" val="2819864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2C69C3-6B5A-F90D-5EA9-188E3318F0D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52FD2154-CE66-3495-E8E0-55A409BA926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2A95A08-2FD1-8E23-073D-A5A6BCB00401}"/>
              </a:ext>
            </a:extLst>
          </p:cNvPr>
          <p:cNvSpPr>
            <a:spLocks noGrp="1"/>
          </p:cNvSpPr>
          <p:nvPr>
            <p:ph type="dt" sz="half" idx="10"/>
          </p:nvPr>
        </p:nvSpPr>
        <p:spPr/>
        <p:txBody>
          <a:bodyPr/>
          <a:lstStyle/>
          <a:p>
            <a:fld id="{4F2858F8-25F5-4E1D-89A6-806FC1FF9F95}" type="datetimeFigureOut">
              <a:rPr lang="fr-FR" smtClean="0"/>
              <a:t>16/12/2024</a:t>
            </a:fld>
            <a:endParaRPr lang="fr-FR"/>
          </a:p>
        </p:txBody>
      </p:sp>
      <p:sp>
        <p:nvSpPr>
          <p:cNvPr id="5" name="Espace réservé du pied de page 4">
            <a:extLst>
              <a:ext uri="{FF2B5EF4-FFF2-40B4-BE49-F238E27FC236}">
                <a16:creationId xmlns:a16="http://schemas.microsoft.com/office/drawing/2014/main" id="{26EC87EF-8F5C-9275-05B5-6BC42220D62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8431B42-9F81-2698-51CE-DE93FE1DCF28}"/>
              </a:ext>
            </a:extLst>
          </p:cNvPr>
          <p:cNvSpPr>
            <a:spLocks noGrp="1"/>
          </p:cNvSpPr>
          <p:nvPr>
            <p:ph type="sldNum" sz="quarter" idx="12"/>
          </p:nvPr>
        </p:nvSpPr>
        <p:spPr/>
        <p:txBody>
          <a:bodyPr/>
          <a:lstStyle/>
          <a:p>
            <a:fld id="{B9FAA2F2-6A1D-4B82-A614-A70A8E09B37F}" type="slidenum">
              <a:rPr lang="fr-FR" smtClean="0"/>
              <a:t>‹N°›</a:t>
            </a:fld>
            <a:endParaRPr lang="fr-FR"/>
          </a:p>
        </p:txBody>
      </p:sp>
    </p:spTree>
    <p:extLst>
      <p:ext uri="{BB962C8B-B14F-4D97-AF65-F5344CB8AC3E}">
        <p14:creationId xmlns:p14="http://schemas.microsoft.com/office/powerpoint/2010/main" val="3001020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42F616-080A-D327-69CF-3B92B3CF0028}"/>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A7785643-9B6B-FB29-F0CD-7603C6B8BA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6E6B167-7BCA-414A-89B5-34F20F1DB4EE}"/>
              </a:ext>
            </a:extLst>
          </p:cNvPr>
          <p:cNvSpPr>
            <a:spLocks noGrp="1"/>
          </p:cNvSpPr>
          <p:nvPr>
            <p:ph type="dt" sz="half" idx="10"/>
          </p:nvPr>
        </p:nvSpPr>
        <p:spPr/>
        <p:txBody>
          <a:bodyPr/>
          <a:lstStyle/>
          <a:p>
            <a:fld id="{4F2858F8-25F5-4E1D-89A6-806FC1FF9F95}" type="datetimeFigureOut">
              <a:rPr lang="fr-FR" smtClean="0"/>
              <a:t>16/12/2024</a:t>
            </a:fld>
            <a:endParaRPr lang="fr-FR"/>
          </a:p>
        </p:txBody>
      </p:sp>
      <p:sp>
        <p:nvSpPr>
          <p:cNvPr id="5" name="Espace réservé du pied de page 4">
            <a:extLst>
              <a:ext uri="{FF2B5EF4-FFF2-40B4-BE49-F238E27FC236}">
                <a16:creationId xmlns:a16="http://schemas.microsoft.com/office/drawing/2014/main" id="{190EA29E-B1D1-6CAE-BB4E-3A6225918FA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9315D03-2D23-E0F6-7288-2FA932357F3D}"/>
              </a:ext>
            </a:extLst>
          </p:cNvPr>
          <p:cNvSpPr>
            <a:spLocks noGrp="1"/>
          </p:cNvSpPr>
          <p:nvPr>
            <p:ph type="sldNum" sz="quarter" idx="12"/>
          </p:nvPr>
        </p:nvSpPr>
        <p:spPr/>
        <p:txBody>
          <a:bodyPr/>
          <a:lstStyle/>
          <a:p>
            <a:fld id="{B9FAA2F2-6A1D-4B82-A614-A70A8E09B37F}" type="slidenum">
              <a:rPr lang="fr-FR" smtClean="0"/>
              <a:t>‹N°›</a:t>
            </a:fld>
            <a:endParaRPr lang="fr-FR"/>
          </a:p>
        </p:txBody>
      </p:sp>
    </p:spTree>
    <p:extLst>
      <p:ext uri="{BB962C8B-B14F-4D97-AF65-F5344CB8AC3E}">
        <p14:creationId xmlns:p14="http://schemas.microsoft.com/office/powerpoint/2010/main" val="17239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36DA2A-D1EC-BA0A-8E3C-DB5A6D63B20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8355277-50B0-AF54-6F24-925CB0CC319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41F9E33-D718-4F8E-40AF-79440AB3010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A81BE06A-E741-AFCD-9BAE-E60A1D773FB3}"/>
              </a:ext>
            </a:extLst>
          </p:cNvPr>
          <p:cNvSpPr>
            <a:spLocks noGrp="1"/>
          </p:cNvSpPr>
          <p:nvPr>
            <p:ph type="dt" sz="half" idx="10"/>
          </p:nvPr>
        </p:nvSpPr>
        <p:spPr/>
        <p:txBody>
          <a:bodyPr/>
          <a:lstStyle/>
          <a:p>
            <a:fld id="{4F2858F8-25F5-4E1D-89A6-806FC1FF9F95}" type="datetimeFigureOut">
              <a:rPr lang="fr-FR" smtClean="0"/>
              <a:t>16/12/2024</a:t>
            </a:fld>
            <a:endParaRPr lang="fr-FR"/>
          </a:p>
        </p:txBody>
      </p:sp>
      <p:sp>
        <p:nvSpPr>
          <p:cNvPr id="6" name="Espace réservé du pied de page 5">
            <a:extLst>
              <a:ext uri="{FF2B5EF4-FFF2-40B4-BE49-F238E27FC236}">
                <a16:creationId xmlns:a16="http://schemas.microsoft.com/office/drawing/2014/main" id="{21EB1CE3-0FCF-08A1-10E0-4222F82FBA5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49BD1A9-262F-A575-6EE1-C010E5F183F1}"/>
              </a:ext>
            </a:extLst>
          </p:cNvPr>
          <p:cNvSpPr>
            <a:spLocks noGrp="1"/>
          </p:cNvSpPr>
          <p:nvPr>
            <p:ph type="sldNum" sz="quarter" idx="12"/>
          </p:nvPr>
        </p:nvSpPr>
        <p:spPr/>
        <p:txBody>
          <a:bodyPr/>
          <a:lstStyle/>
          <a:p>
            <a:fld id="{B9FAA2F2-6A1D-4B82-A614-A70A8E09B37F}" type="slidenum">
              <a:rPr lang="fr-FR" smtClean="0"/>
              <a:t>‹N°›</a:t>
            </a:fld>
            <a:endParaRPr lang="fr-FR"/>
          </a:p>
        </p:txBody>
      </p:sp>
    </p:spTree>
    <p:extLst>
      <p:ext uri="{BB962C8B-B14F-4D97-AF65-F5344CB8AC3E}">
        <p14:creationId xmlns:p14="http://schemas.microsoft.com/office/powerpoint/2010/main" val="3603251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C76C83-77B3-20AC-7C64-B1A8B9FA909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9695A26-0A32-74E8-2D1F-BF5B07E3B2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3CFF579-79E9-FFD1-D80B-E479DF5CC36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8E867B0-D70E-B7F7-3AD0-6E09DD3E21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1B3359B-3EDD-AFAE-B608-4888A488F7DD}"/>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CDDDC21-DE72-E5EC-45A0-DEDAC3816403}"/>
              </a:ext>
            </a:extLst>
          </p:cNvPr>
          <p:cNvSpPr>
            <a:spLocks noGrp="1"/>
          </p:cNvSpPr>
          <p:nvPr>
            <p:ph type="dt" sz="half" idx="10"/>
          </p:nvPr>
        </p:nvSpPr>
        <p:spPr/>
        <p:txBody>
          <a:bodyPr/>
          <a:lstStyle/>
          <a:p>
            <a:fld id="{4F2858F8-25F5-4E1D-89A6-806FC1FF9F95}" type="datetimeFigureOut">
              <a:rPr lang="fr-FR" smtClean="0"/>
              <a:t>16/12/2024</a:t>
            </a:fld>
            <a:endParaRPr lang="fr-FR"/>
          </a:p>
        </p:txBody>
      </p:sp>
      <p:sp>
        <p:nvSpPr>
          <p:cNvPr id="8" name="Espace réservé du pied de page 7">
            <a:extLst>
              <a:ext uri="{FF2B5EF4-FFF2-40B4-BE49-F238E27FC236}">
                <a16:creationId xmlns:a16="http://schemas.microsoft.com/office/drawing/2014/main" id="{D4608C02-695D-8CB6-F83A-ED3D0F503AD4}"/>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87765DB-A15B-AED4-82A4-EAFCF991ABF3}"/>
              </a:ext>
            </a:extLst>
          </p:cNvPr>
          <p:cNvSpPr>
            <a:spLocks noGrp="1"/>
          </p:cNvSpPr>
          <p:nvPr>
            <p:ph type="sldNum" sz="quarter" idx="12"/>
          </p:nvPr>
        </p:nvSpPr>
        <p:spPr/>
        <p:txBody>
          <a:bodyPr/>
          <a:lstStyle/>
          <a:p>
            <a:fld id="{B9FAA2F2-6A1D-4B82-A614-A70A8E09B37F}" type="slidenum">
              <a:rPr lang="fr-FR" smtClean="0"/>
              <a:t>‹N°›</a:t>
            </a:fld>
            <a:endParaRPr lang="fr-FR"/>
          </a:p>
        </p:txBody>
      </p:sp>
    </p:spTree>
    <p:extLst>
      <p:ext uri="{BB962C8B-B14F-4D97-AF65-F5344CB8AC3E}">
        <p14:creationId xmlns:p14="http://schemas.microsoft.com/office/powerpoint/2010/main" val="1262387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F7AE2B-767D-4872-1CB4-B7921EDED4AF}"/>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BEB7D44E-23AF-526A-E312-5BD430CD0541}"/>
              </a:ext>
            </a:extLst>
          </p:cNvPr>
          <p:cNvSpPr>
            <a:spLocks noGrp="1"/>
          </p:cNvSpPr>
          <p:nvPr>
            <p:ph type="dt" sz="half" idx="10"/>
          </p:nvPr>
        </p:nvSpPr>
        <p:spPr/>
        <p:txBody>
          <a:bodyPr/>
          <a:lstStyle/>
          <a:p>
            <a:fld id="{4F2858F8-25F5-4E1D-89A6-806FC1FF9F95}" type="datetimeFigureOut">
              <a:rPr lang="fr-FR" smtClean="0"/>
              <a:t>16/12/2024</a:t>
            </a:fld>
            <a:endParaRPr lang="fr-FR"/>
          </a:p>
        </p:txBody>
      </p:sp>
      <p:sp>
        <p:nvSpPr>
          <p:cNvPr id="4" name="Espace réservé du pied de page 3">
            <a:extLst>
              <a:ext uri="{FF2B5EF4-FFF2-40B4-BE49-F238E27FC236}">
                <a16:creationId xmlns:a16="http://schemas.microsoft.com/office/drawing/2014/main" id="{BFCD1309-A92F-AD60-6E29-C5CF29262E1D}"/>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2A5563D4-8E04-2EAB-808C-C4144B001280}"/>
              </a:ext>
            </a:extLst>
          </p:cNvPr>
          <p:cNvSpPr>
            <a:spLocks noGrp="1"/>
          </p:cNvSpPr>
          <p:nvPr>
            <p:ph type="sldNum" sz="quarter" idx="12"/>
          </p:nvPr>
        </p:nvSpPr>
        <p:spPr/>
        <p:txBody>
          <a:bodyPr/>
          <a:lstStyle/>
          <a:p>
            <a:fld id="{B9FAA2F2-6A1D-4B82-A614-A70A8E09B37F}" type="slidenum">
              <a:rPr lang="fr-FR" smtClean="0"/>
              <a:t>‹N°›</a:t>
            </a:fld>
            <a:endParaRPr lang="fr-FR"/>
          </a:p>
        </p:txBody>
      </p:sp>
    </p:spTree>
    <p:extLst>
      <p:ext uri="{BB962C8B-B14F-4D97-AF65-F5344CB8AC3E}">
        <p14:creationId xmlns:p14="http://schemas.microsoft.com/office/powerpoint/2010/main" val="3446242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B5CFF75-8C95-EAC7-4031-E1E338A0DD96}"/>
              </a:ext>
            </a:extLst>
          </p:cNvPr>
          <p:cNvSpPr>
            <a:spLocks noGrp="1"/>
          </p:cNvSpPr>
          <p:nvPr>
            <p:ph type="dt" sz="half" idx="10"/>
          </p:nvPr>
        </p:nvSpPr>
        <p:spPr/>
        <p:txBody>
          <a:bodyPr/>
          <a:lstStyle/>
          <a:p>
            <a:fld id="{4F2858F8-25F5-4E1D-89A6-806FC1FF9F95}" type="datetimeFigureOut">
              <a:rPr lang="fr-FR" smtClean="0"/>
              <a:t>16/12/2024</a:t>
            </a:fld>
            <a:endParaRPr lang="fr-FR"/>
          </a:p>
        </p:txBody>
      </p:sp>
      <p:sp>
        <p:nvSpPr>
          <p:cNvPr id="3" name="Espace réservé du pied de page 2">
            <a:extLst>
              <a:ext uri="{FF2B5EF4-FFF2-40B4-BE49-F238E27FC236}">
                <a16:creationId xmlns:a16="http://schemas.microsoft.com/office/drawing/2014/main" id="{9904592A-903E-B94D-EA0E-B47100E5EFD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2B917666-1892-D27C-5C36-0F047B497342}"/>
              </a:ext>
            </a:extLst>
          </p:cNvPr>
          <p:cNvSpPr>
            <a:spLocks noGrp="1"/>
          </p:cNvSpPr>
          <p:nvPr>
            <p:ph type="sldNum" sz="quarter" idx="12"/>
          </p:nvPr>
        </p:nvSpPr>
        <p:spPr/>
        <p:txBody>
          <a:bodyPr/>
          <a:lstStyle/>
          <a:p>
            <a:fld id="{B9FAA2F2-6A1D-4B82-A614-A70A8E09B37F}" type="slidenum">
              <a:rPr lang="fr-FR" smtClean="0"/>
              <a:t>‹N°›</a:t>
            </a:fld>
            <a:endParaRPr lang="fr-FR"/>
          </a:p>
        </p:txBody>
      </p:sp>
    </p:spTree>
    <p:extLst>
      <p:ext uri="{BB962C8B-B14F-4D97-AF65-F5344CB8AC3E}">
        <p14:creationId xmlns:p14="http://schemas.microsoft.com/office/powerpoint/2010/main" val="2585090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AF2443-05D0-4293-A2E0-F71173C03D7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31102A42-32F0-4ED1-8747-8023A3E445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3CF7990E-7814-617C-DD2C-FD662F1A5F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6062FFD-B360-C72E-4FA8-38EA41AEAE83}"/>
              </a:ext>
            </a:extLst>
          </p:cNvPr>
          <p:cNvSpPr>
            <a:spLocks noGrp="1"/>
          </p:cNvSpPr>
          <p:nvPr>
            <p:ph type="dt" sz="half" idx="10"/>
          </p:nvPr>
        </p:nvSpPr>
        <p:spPr/>
        <p:txBody>
          <a:bodyPr/>
          <a:lstStyle/>
          <a:p>
            <a:fld id="{4F2858F8-25F5-4E1D-89A6-806FC1FF9F95}" type="datetimeFigureOut">
              <a:rPr lang="fr-FR" smtClean="0"/>
              <a:t>16/12/2024</a:t>
            </a:fld>
            <a:endParaRPr lang="fr-FR"/>
          </a:p>
        </p:txBody>
      </p:sp>
      <p:sp>
        <p:nvSpPr>
          <p:cNvPr id="6" name="Espace réservé du pied de page 5">
            <a:extLst>
              <a:ext uri="{FF2B5EF4-FFF2-40B4-BE49-F238E27FC236}">
                <a16:creationId xmlns:a16="http://schemas.microsoft.com/office/drawing/2014/main" id="{491F5B5A-1028-59BB-6E95-D45C932268E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B3189A0-7910-7A4B-523A-587215AF3B83}"/>
              </a:ext>
            </a:extLst>
          </p:cNvPr>
          <p:cNvSpPr>
            <a:spLocks noGrp="1"/>
          </p:cNvSpPr>
          <p:nvPr>
            <p:ph type="sldNum" sz="quarter" idx="12"/>
          </p:nvPr>
        </p:nvSpPr>
        <p:spPr/>
        <p:txBody>
          <a:bodyPr/>
          <a:lstStyle/>
          <a:p>
            <a:fld id="{B9FAA2F2-6A1D-4B82-A614-A70A8E09B37F}" type="slidenum">
              <a:rPr lang="fr-FR" smtClean="0"/>
              <a:t>‹N°›</a:t>
            </a:fld>
            <a:endParaRPr lang="fr-FR"/>
          </a:p>
        </p:txBody>
      </p:sp>
    </p:spTree>
    <p:extLst>
      <p:ext uri="{BB962C8B-B14F-4D97-AF65-F5344CB8AC3E}">
        <p14:creationId xmlns:p14="http://schemas.microsoft.com/office/powerpoint/2010/main" val="2129584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44D393-866A-9139-96C1-8506324BAA9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7EBD0D2-39EB-C083-7DFE-C46B3BADC2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8DBDDD7-B8B7-4652-2369-ADF1202C07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B4CF191-0531-F74C-7EDC-1B6CF1E796BA}"/>
              </a:ext>
            </a:extLst>
          </p:cNvPr>
          <p:cNvSpPr>
            <a:spLocks noGrp="1"/>
          </p:cNvSpPr>
          <p:nvPr>
            <p:ph type="dt" sz="half" idx="10"/>
          </p:nvPr>
        </p:nvSpPr>
        <p:spPr/>
        <p:txBody>
          <a:bodyPr/>
          <a:lstStyle/>
          <a:p>
            <a:fld id="{4F2858F8-25F5-4E1D-89A6-806FC1FF9F95}" type="datetimeFigureOut">
              <a:rPr lang="fr-FR" smtClean="0"/>
              <a:t>16/12/2024</a:t>
            </a:fld>
            <a:endParaRPr lang="fr-FR"/>
          </a:p>
        </p:txBody>
      </p:sp>
      <p:sp>
        <p:nvSpPr>
          <p:cNvPr id="6" name="Espace réservé du pied de page 5">
            <a:extLst>
              <a:ext uri="{FF2B5EF4-FFF2-40B4-BE49-F238E27FC236}">
                <a16:creationId xmlns:a16="http://schemas.microsoft.com/office/drawing/2014/main" id="{BB55DCDE-0509-B950-D0EB-978E92B537E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421C80-B1DB-E694-4AA3-A9D585E212FF}"/>
              </a:ext>
            </a:extLst>
          </p:cNvPr>
          <p:cNvSpPr>
            <a:spLocks noGrp="1"/>
          </p:cNvSpPr>
          <p:nvPr>
            <p:ph type="sldNum" sz="quarter" idx="12"/>
          </p:nvPr>
        </p:nvSpPr>
        <p:spPr/>
        <p:txBody>
          <a:bodyPr/>
          <a:lstStyle/>
          <a:p>
            <a:fld id="{B9FAA2F2-6A1D-4B82-A614-A70A8E09B37F}" type="slidenum">
              <a:rPr lang="fr-FR" smtClean="0"/>
              <a:t>‹N°›</a:t>
            </a:fld>
            <a:endParaRPr lang="fr-FR"/>
          </a:p>
        </p:txBody>
      </p:sp>
    </p:spTree>
    <p:extLst>
      <p:ext uri="{BB962C8B-B14F-4D97-AF65-F5344CB8AC3E}">
        <p14:creationId xmlns:p14="http://schemas.microsoft.com/office/powerpoint/2010/main" val="2318793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E6B0C8-FF92-F60E-78FA-7F840718DB5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2C524370-7681-F683-97C0-5B93E04B150C}"/>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A70BA10-0CE8-E7DF-8CA2-63234061734E}"/>
              </a:ext>
            </a:extLst>
          </p:cNvPr>
          <p:cNvSpPr>
            <a:spLocks noGrp="1"/>
          </p:cNvSpPr>
          <p:nvPr>
            <p:ph type="dt" sz="half" idx="10"/>
          </p:nvPr>
        </p:nvSpPr>
        <p:spPr/>
        <p:txBody>
          <a:bodyPr/>
          <a:lstStyle/>
          <a:p>
            <a:fld id="{4F2858F8-25F5-4E1D-89A6-806FC1FF9F95}" type="datetimeFigureOut">
              <a:rPr lang="fr-FR" smtClean="0"/>
              <a:t>16/12/2024</a:t>
            </a:fld>
            <a:endParaRPr lang="fr-FR"/>
          </a:p>
        </p:txBody>
      </p:sp>
      <p:sp>
        <p:nvSpPr>
          <p:cNvPr id="5" name="Espace réservé du pied de page 4">
            <a:extLst>
              <a:ext uri="{FF2B5EF4-FFF2-40B4-BE49-F238E27FC236}">
                <a16:creationId xmlns:a16="http://schemas.microsoft.com/office/drawing/2014/main" id="{5FF9C50D-23B4-F50C-C775-CA0E7E33527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9FF2BD2-DC73-463A-5529-7683D8574160}"/>
              </a:ext>
            </a:extLst>
          </p:cNvPr>
          <p:cNvSpPr>
            <a:spLocks noGrp="1"/>
          </p:cNvSpPr>
          <p:nvPr>
            <p:ph type="sldNum" sz="quarter" idx="12"/>
          </p:nvPr>
        </p:nvSpPr>
        <p:spPr/>
        <p:txBody>
          <a:bodyPr/>
          <a:lstStyle/>
          <a:p>
            <a:fld id="{B9FAA2F2-6A1D-4B82-A614-A70A8E09B37F}" type="slidenum">
              <a:rPr lang="fr-FR" smtClean="0"/>
              <a:t>‹N°›</a:t>
            </a:fld>
            <a:endParaRPr lang="fr-FR"/>
          </a:p>
        </p:txBody>
      </p:sp>
    </p:spTree>
    <p:extLst>
      <p:ext uri="{BB962C8B-B14F-4D97-AF65-F5344CB8AC3E}">
        <p14:creationId xmlns:p14="http://schemas.microsoft.com/office/powerpoint/2010/main" val="3338315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5CC06E2-C029-F06A-5B09-27AE801BAA2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00239AF-C907-F3CC-D073-7329447830DC}"/>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9D0EBB-8488-1B87-6531-D2DCF096073B}"/>
              </a:ext>
            </a:extLst>
          </p:cNvPr>
          <p:cNvSpPr>
            <a:spLocks noGrp="1"/>
          </p:cNvSpPr>
          <p:nvPr>
            <p:ph type="dt" sz="half" idx="10"/>
          </p:nvPr>
        </p:nvSpPr>
        <p:spPr/>
        <p:txBody>
          <a:bodyPr/>
          <a:lstStyle/>
          <a:p>
            <a:fld id="{4F2858F8-25F5-4E1D-89A6-806FC1FF9F95}" type="datetimeFigureOut">
              <a:rPr lang="fr-FR" smtClean="0"/>
              <a:t>16/12/2024</a:t>
            </a:fld>
            <a:endParaRPr lang="fr-FR"/>
          </a:p>
        </p:txBody>
      </p:sp>
      <p:sp>
        <p:nvSpPr>
          <p:cNvPr id="5" name="Espace réservé du pied de page 4">
            <a:extLst>
              <a:ext uri="{FF2B5EF4-FFF2-40B4-BE49-F238E27FC236}">
                <a16:creationId xmlns:a16="http://schemas.microsoft.com/office/drawing/2014/main" id="{E637DEE8-CE03-1A82-7EEC-4417591EFA4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B3DD117-2167-09EB-2C47-65DDCE7F5303}"/>
              </a:ext>
            </a:extLst>
          </p:cNvPr>
          <p:cNvSpPr>
            <a:spLocks noGrp="1"/>
          </p:cNvSpPr>
          <p:nvPr>
            <p:ph type="sldNum" sz="quarter" idx="12"/>
          </p:nvPr>
        </p:nvSpPr>
        <p:spPr/>
        <p:txBody>
          <a:bodyPr/>
          <a:lstStyle/>
          <a:p>
            <a:fld id="{B9FAA2F2-6A1D-4B82-A614-A70A8E09B37F}" type="slidenum">
              <a:rPr lang="fr-FR" smtClean="0"/>
              <a:t>‹N°›</a:t>
            </a:fld>
            <a:endParaRPr lang="fr-FR"/>
          </a:p>
        </p:txBody>
      </p:sp>
    </p:spTree>
    <p:extLst>
      <p:ext uri="{BB962C8B-B14F-4D97-AF65-F5344CB8AC3E}">
        <p14:creationId xmlns:p14="http://schemas.microsoft.com/office/powerpoint/2010/main" val="2312510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26157BD-DFA1-D232-F14B-AA9CFB68B3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6A156E4-E99B-71C3-E073-4015BBA0EC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77CB828-E8D0-A99C-EF04-352C5B4C9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2858F8-25F5-4E1D-89A6-806FC1FF9F95}" type="datetimeFigureOut">
              <a:rPr lang="fr-FR" smtClean="0"/>
              <a:t>16/12/2024</a:t>
            </a:fld>
            <a:endParaRPr lang="fr-FR"/>
          </a:p>
        </p:txBody>
      </p:sp>
      <p:sp>
        <p:nvSpPr>
          <p:cNvPr id="5" name="Espace réservé du pied de page 4">
            <a:extLst>
              <a:ext uri="{FF2B5EF4-FFF2-40B4-BE49-F238E27FC236}">
                <a16:creationId xmlns:a16="http://schemas.microsoft.com/office/drawing/2014/main" id="{1BE03EA5-DCA4-E348-AF5D-EE762C62BC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E8AA08FA-6DD5-5681-9631-AE8648A429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FAA2F2-6A1D-4B82-A614-A70A8E09B37F}" type="slidenum">
              <a:rPr lang="fr-FR" smtClean="0"/>
              <a:t>‹N°›</a:t>
            </a:fld>
            <a:endParaRPr lang="fr-FR"/>
          </a:p>
        </p:txBody>
      </p:sp>
    </p:spTree>
    <p:extLst>
      <p:ext uri="{BB962C8B-B14F-4D97-AF65-F5344CB8AC3E}">
        <p14:creationId xmlns:p14="http://schemas.microsoft.com/office/powerpoint/2010/main" val="35381173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BDEC2F01-ABDA-380B-EC42-09172BD02E30}"/>
              </a:ext>
            </a:extLst>
          </p:cNvPr>
          <p:cNvSpPr txBox="1"/>
          <p:nvPr/>
        </p:nvSpPr>
        <p:spPr>
          <a:xfrm>
            <a:off x="537882" y="367553"/>
            <a:ext cx="5136777" cy="369332"/>
          </a:xfrm>
          <a:prstGeom prst="rect">
            <a:avLst/>
          </a:prstGeom>
          <a:noFill/>
        </p:spPr>
        <p:txBody>
          <a:bodyPr wrap="square" rtlCol="0">
            <a:spAutoFit/>
          </a:bodyPr>
          <a:lstStyle/>
          <a:p>
            <a:r>
              <a:rPr lang="fr-FR" dirty="0"/>
              <a:t>Heures Supplémentaires – Situation actuelle</a:t>
            </a:r>
          </a:p>
        </p:txBody>
      </p:sp>
      <p:sp>
        <p:nvSpPr>
          <p:cNvPr id="5" name="Rectangle : coins arrondis 4">
            <a:extLst>
              <a:ext uri="{FF2B5EF4-FFF2-40B4-BE49-F238E27FC236}">
                <a16:creationId xmlns:a16="http://schemas.microsoft.com/office/drawing/2014/main" id="{3A0F54D7-E45F-7EDB-E7B4-2584A8EA51CA}"/>
              </a:ext>
            </a:extLst>
          </p:cNvPr>
          <p:cNvSpPr/>
          <p:nvPr/>
        </p:nvSpPr>
        <p:spPr>
          <a:xfrm>
            <a:off x="735106" y="1165412"/>
            <a:ext cx="1192306" cy="6185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Saisie demande</a:t>
            </a:r>
          </a:p>
        </p:txBody>
      </p:sp>
      <p:sp>
        <p:nvSpPr>
          <p:cNvPr id="6" name="Ellipse 5">
            <a:extLst>
              <a:ext uri="{FF2B5EF4-FFF2-40B4-BE49-F238E27FC236}">
                <a16:creationId xmlns:a16="http://schemas.microsoft.com/office/drawing/2014/main" id="{889AA25A-3777-5643-8A9D-682CD839349D}"/>
              </a:ext>
            </a:extLst>
          </p:cNvPr>
          <p:cNvSpPr/>
          <p:nvPr/>
        </p:nvSpPr>
        <p:spPr>
          <a:xfrm>
            <a:off x="5002306" y="1165411"/>
            <a:ext cx="1577788" cy="6992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t>ATU_Demande_HS</a:t>
            </a:r>
            <a:endParaRPr lang="fr-FR" dirty="0"/>
          </a:p>
        </p:txBody>
      </p:sp>
      <p:sp>
        <p:nvSpPr>
          <p:cNvPr id="7" name="ZoneTexte 6">
            <a:extLst>
              <a:ext uri="{FF2B5EF4-FFF2-40B4-BE49-F238E27FC236}">
                <a16:creationId xmlns:a16="http://schemas.microsoft.com/office/drawing/2014/main" id="{B992AEFD-11CC-1C61-EF59-751D47E0E0AF}"/>
              </a:ext>
            </a:extLst>
          </p:cNvPr>
          <p:cNvSpPr txBox="1"/>
          <p:nvPr/>
        </p:nvSpPr>
        <p:spPr>
          <a:xfrm>
            <a:off x="2595283" y="1011523"/>
            <a:ext cx="1810870" cy="307777"/>
          </a:xfrm>
          <a:prstGeom prst="rect">
            <a:avLst/>
          </a:prstGeom>
          <a:noFill/>
        </p:spPr>
        <p:txBody>
          <a:bodyPr wrap="square" rtlCol="0">
            <a:spAutoFit/>
          </a:bodyPr>
          <a:lstStyle/>
          <a:p>
            <a:r>
              <a:rPr lang="fr-FR" sz="1400" dirty="0"/>
              <a:t>Demande agent</a:t>
            </a:r>
          </a:p>
        </p:txBody>
      </p:sp>
      <p:cxnSp>
        <p:nvCxnSpPr>
          <p:cNvPr id="9" name="Connecteur droit avec flèche 8">
            <a:extLst>
              <a:ext uri="{FF2B5EF4-FFF2-40B4-BE49-F238E27FC236}">
                <a16:creationId xmlns:a16="http://schemas.microsoft.com/office/drawing/2014/main" id="{E2063AF2-1AC5-90BA-3BCA-48DAE1CF66E2}"/>
              </a:ext>
            </a:extLst>
          </p:cNvPr>
          <p:cNvCxnSpPr>
            <a:cxnSpLocks/>
          </p:cNvCxnSpPr>
          <p:nvPr/>
        </p:nvCxnSpPr>
        <p:spPr>
          <a:xfrm>
            <a:off x="1927412" y="1314818"/>
            <a:ext cx="3074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3A0110C2-CCB6-0E36-D155-98EF36F0E724}"/>
              </a:ext>
            </a:extLst>
          </p:cNvPr>
          <p:cNvSpPr txBox="1"/>
          <p:nvPr/>
        </p:nvSpPr>
        <p:spPr>
          <a:xfrm>
            <a:off x="2523565" y="1446023"/>
            <a:ext cx="1810870" cy="307777"/>
          </a:xfrm>
          <a:prstGeom prst="rect">
            <a:avLst/>
          </a:prstGeom>
          <a:noFill/>
        </p:spPr>
        <p:txBody>
          <a:bodyPr wrap="square" rtlCol="0">
            <a:spAutoFit/>
          </a:bodyPr>
          <a:lstStyle/>
          <a:p>
            <a:r>
              <a:rPr lang="fr-FR" sz="1400" dirty="0"/>
              <a:t>Demande manager</a:t>
            </a:r>
          </a:p>
        </p:txBody>
      </p:sp>
      <p:cxnSp>
        <p:nvCxnSpPr>
          <p:cNvPr id="13" name="Connecteur droit avec flèche 12">
            <a:extLst>
              <a:ext uri="{FF2B5EF4-FFF2-40B4-BE49-F238E27FC236}">
                <a16:creationId xmlns:a16="http://schemas.microsoft.com/office/drawing/2014/main" id="{EE241BB9-A3CD-BCE0-2BA0-570741D15224}"/>
              </a:ext>
            </a:extLst>
          </p:cNvPr>
          <p:cNvCxnSpPr>
            <a:cxnSpLocks/>
          </p:cNvCxnSpPr>
          <p:nvPr/>
        </p:nvCxnSpPr>
        <p:spPr>
          <a:xfrm>
            <a:off x="1963271" y="1750806"/>
            <a:ext cx="3074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eur : en angle 14">
            <a:extLst>
              <a:ext uri="{FF2B5EF4-FFF2-40B4-BE49-F238E27FC236}">
                <a16:creationId xmlns:a16="http://schemas.microsoft.com/office/drawing/2014/main" id="{D85FC582-D7F2-B677-E396-892814D4BA7A}"/>
              </a:ext>
            </a:extLst>
          </p:cNvPr>
          <p:cNvCxnSpPr/>
          <p:nvPr/>
        </p:nvCxnSpPr>
        <p:spPr>
          <a:xfrm>
            <a:off x="4114800" y="1750806"/>
            <a:ext cx="923365" cy="83102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Ellipse 15">
            <a:extLst>
              <a:ext uri="{FF2B5EF4-FFF2-40B4-BE49-F238E27FC236}">
                <a16:creationId xmlns:a16="http://schemas.microsoft.com/office/drawing/2014/main" id="{EA78BA3E-2D50-F7B7-90FA-E020744B099C}"/>
              </a:ext>
            </a:extLst>
          </p:cNvPr>
          <p:cNvSpPr/>
          <p:nvPr/>
        </p:nvSpPr>
        <p:spPr>
          <a:xfrm>
            <a:off x="5105399" y="2232211"/>
            <a:ext cx="1887071" cy="6992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t>ATU_Demande_Agents</a:t>
            </a:r>
            <a:endParaRPr lang="fr-FR" dirty="0"/>
          </a:p>
        </p:txBody>
      </p:sp>
      <p:sp>
        <p:nvSpPr>
          <p:cNvPr id="18" name="Flèche : droite 17">
            <a:extLst>
              <a:ext uri="{FF2B5EF4-FFF2-40B4-BE49-F238E27FC236}">
                <a16:creationId xmlns:a16="http://schemas.microsoft.com/office/drawing/2014/main" id="{68F3104C-D7D9-9A16-3296-B150C6F7D8B0}"/>
              </a:ext>
            </a:extLst>
          </p:cNvPr>
          <p:cNvSpPr/>
          <p:nvPr/>
        </p:nvSpPr>
        <p:spPr>
          <a:xfrm>
            <a:off x="7252447" y="2989729"/>
            <a:ext cx="2026023" cy="69924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Automate RPA</a:t>
            </a:r>
          </a:p>
        </p:txBody>
      </p:sp>
      <p:sp>
        <p:nvSpPr>
          <p:cNvPr id="19" name="Ellipse 18">
            <a:extLst>
              <a:ext uri="{FF2B5EF4-FFF2-40B4-BE49-F238E27FC236}">
                <a16:creationId xmlns:a16="http://schemas.microsoft.com/office/drawing/2014/main" id="{39111844-3672-D539-4772-FA8B499F653D}"/>
              </a:ext>
            </a:extLst>
          </p:cNvPr>
          <p:cNvSpPr/>
          <p:nvPr/>
        </p:nvSpPr>
        <p:spPr>
          <a:xfrm>
            <a:off x="7413811" y="3895164"/>
            <a:ext cx="1577788" cy="6992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t>ATU_HS_pointages</a:t>
            </a:r>
            <a:endParaRPr lang="fr-FR" dirty="0"/>
          </a:p>
        </p:txBody>
      </p:sp>
      <p:sp>
        <p:nvSpPr>
          <p:cNvPr id="20" name="Ellipse 19">
            <a:extLst>
              <a:ext uri="{FF2B5EF4-FFF2-40B4-BE49-F238E27FC236}">
                <a16:creationId xmlns:a16="http://schemas.microsoft.com/office/drawing/2014/main" id="{7837FD90-E7D3-9713-FCDB-E854053D2D79}"/>
              </a:ext>
            </a:extLst>
          </p:cNvPr>
          <p:cNvSpPr/>
          <p:nvPr/>
        </p:nvSpPr>
        <p:spPr>
          <a:xfrm>
            <a:off x="7476563" y="4944033"/>
            <a:ext cx="2644590" cy="6992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t>ATU_HS_resultats</a:t>
            </a:r>
            <a:endParaRPr lang="fr-FR" dirty="0"/>
          </a:p>
        </p:txBody>
      </p:sp>
      <p:cxnSp>
        <p:nvCxnSpPr>
          <p:cNvPr id="30" name="Connecteur : en angle 29">
            <a:extLst>
              <a:ext uri="{FF2B5EF4-FFF2-40B4-BE49-F238E27FC236}">
                <a16:creationId xmlns:a16="http://schemas.microsoft.com/office/drawing/2014/main" id="{AE841BCB-2C95-B87E-E082-DB57F86BFD05}"/>
              </a:ext>
            </a:extLst>
          </p:cNvPr>
          <p:cNvCxnSpPr>
            <a:stCxn id="18" idx="1"/>
            <a:endCxn id="19" idx="2"/>
          </p:cNvCxnSpPr>
          <p:nvPr/>
        </p:nvCxnSpPr>
        <p:spPr>
          <a:xfrm rot="10800000" flipH="1" flipV="1">
            <a:off x="7252447" y="3339352"/>
            <a:ext cx="161364" cy="905436"/>
          </a:xfrm>
          <a:prstGeom prst="bentConnector3">
            <a:avLst>
              <a:gd name="adj1" fmla="val -14166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B59ADBED-DD0F-32AD-FE43-4D391EF95861}"/>
              </a:ext>
            </a:extLst>
          </p:cNvPr>
          <p:cNvCxnSpPr>
            <a:cxnSpLocks/>
            <a:endCxn id="20" idx="0"/>
          </p:cNvCxnSpPr>
          <p:nvPr/>
        </p:nvCxnSpPr>
        <p:spPr>
          <a:xfrm>
            <a:off x="6992470" y="4244787"/>
            <a:ext cx="1806388" cy="699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 coins arrondis 33">
            <a:extLst>
              <a:ext uri="{FF2B5EF4-FFF2-40B4-BE49-F238E27FC236}">
                <a16:creationId xmlns:a16="http://schemas.microsoft.com/office/drawing/2014/main" id="{E531411C-88FE-DC33-DE7E-93E61AC795AF}"/>
              </a:ext>
            </a:extLst>
          </p:cNvPr>
          <p:cNvSpPr/>
          <p:nvPr/>
        </p:nvSpPr>
        <p:spPr>
          <a:xfrm>
            <a:off x="2362201" y="5024716"/>
            <a:ext cx="1192306" cy="6185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Validation pointages</a:t>
            </a:r>
          </a:p>
        </p:txBody>
      </p:sp>
      <p:cxnSp>
        <p:nvCxnSpPr>
          <p:cNvPr id="36" name="Connecteur droit avec flèche 35">
            <a:extLst>
              <a:ext uri="{FF2B5EF4-FFF2-40B4-BE49-F238E27FC236}">
                <a16:creationId xmlns:a16="http://schemas.microsoft.com/office/drawing/2014/main" id="{F12F7E11-2ED9-19B0-05FC-B9896798EA2B}"/>
              </a:ext>
            </a:extLst>
          </p:cNvPr>
          <p:cNvCxnSpPr>
            <a:stCxn id="34" idx="3"/>
          </p:cNvCxnSpPr>
          <p:nvPr/>
        </p:nvCxnSpPr>
        <p:spPr>
          <a:xfrm>
            <a:off x="3554507" y="5333998"/>
            <a:ext cx="38593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ZoneTexte 37">
            <a:extLst>
              <a:ext uri="{FF2B5EF4-FFF2-40B4-BE49-F238E27FC236}">
                <a16:creationId xmlns:a16="http://schemas.microsoft.com/office/drawing/2014/main" id="{87F8F461-EBEC-EC45-CA80-87F6CF4A7AA8}"/>
              </a:ext>
            </a:extLst>
          </p:cNvPr>
          <p:cNvSpPr txBox="1"/>
          <p:nvPr/>
        </p:nvSpPr>
        <p:spPr>
          <a:xfrm>
            <a:off x="4114800" y="4993343"/>
            <a:ext cx="2554941" cy="307777"/>
          </a:xfrm>
          <a:prstGeom prst="rect">
            <a:avLst/>
          </a:prstGeom>
          <a:noFill/>
        </p:spPr>
        <p:txBody>
          <a:bodyPr wrap="square" rtlCol="0">
            <a:spAutoFit/>
          </a:bodyPr>
          <a:lstStyle/>
          <a:p>
            <a:r>
              <a:rPr lang="fr-FR" sz="1400" dirty="0"/>
              <a:t>Mise à jour statut validé/rejeté</a:t>
            </a:r>
          </a:p>
        </p:txBody>
      </p:sp>
      <p:sp>
        <p:nvSpPr>
          <p:cNvPr id="42" name="ZoneTexte 41">
            <a:extLst>
              <a:ext uri="{FF2B5EF4-FFF2-40B4-BE49-F238E27FC236}">
                <a16:creationId xmlns:a16="http://schemas.microsoft.com/office/drawing/2014/main" id="{0BDFDC24-ECED-8FBA-EFC1-9707BD840029}"/>
              </a:ext>
            </a:extLst>
          </p:cNvPr>
          <p:cNvSpPr txBox="1"/>
          <p:nvPr/>
        </p:nvSpPr>
        <p:spPr>
          <a:xfrm>
            <a:off x="10121153" y="5120060"/>
            <a:ext cx="2200835" cy="523220"/>
          </a:xfrm>
          <a:prstGeom prst="rect">
            <a:avLst/>
          </a:prstGeom>
          <a:noFill/>
        </p:spPr>
        <p:txBody>
          <a:bodyPr wrap="square" rtlCol="0">
            <a:spAutoFit/>
          </a:bodyPr>
          <a:lstStyle/>
          <a:p>
            <a:r>
              <a:rPr lang="fr-FR" sz="1400" dirty="0"/>
              <a:t>- Statuts</a:t>
            </a:r>
          </a:p>
          <a:p>
            <a:r>
              <a:rPr lang="fr-FR" sz="1400" dirty="0"/>
              <a:t>- Résultats calculs semaine</a:t>
            </a:r>
          </a:p>
        </p:txBody>
      </p:sp>
    </p:spTree>
    <p:extLst>
      <p:ext uri="{BB962C8B-B14F-4D97-AF65-F5344CB8AC3E}">
        <p14:creationId xmlns:p14="http://schemas.microsoft.com/office/powerpoint/2010/main" val="951870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BDEC2F01-ABDA-380B-EC42-09172BD02E30}"/>
              </a:ext>
            </a:extLst>
          </p:cNvPr>
          <p:cNvSpPr txBox="1"/>
          <p:nvPr/>
        </p:nvSpPr>
        <p:spPr>
          <a:xfrm>
            <a:off x="496526" y="292005"/>
            <a:ext cx="7550316" cy="369332"/>
          </a:xfrm>
          <a:prstGeom prst="rect">
            <a:avLst/>
          </a:prstGeom>
          <a:noFill/>
        </p:spPr>
        <p:txBody>
          <a:bodyPr wrap="square" rtlCol="0">
            <a:spAutoFit/>
          </a:bodyPr>
          <a:lstStyle/>
          <a:p>
            <a:r>
              <a:rPr lang="fr-FR" dirty="0"/>
              <a:t>Heures Supplémentaires – avec validation de l’agent sur les badgeages</a:t>
            </a:r>
          </a:p>
        </p:txBody>
      </p:sp>
      <p:sp>
        <p:nvSpPr>
          <p:cNvPr id="5" name="Rectangle : coins arrondis 4">
            <a:extLst>
              <a:ext uri="{FF2B5EF4-FFF2-40B4-BE49-F238E27FC236}">
                <a16:creationId xmlns:a16="http://schemas.microsoft.com/office/drawing/2014/main" id="{3A0F54D7-E45F-7EDB-E7B4-2584A8EA51CA}"/>
              </a:ext>
            </a:extLst>
          </p:cNvPr>
          <p:cNvSpPr/>
          <p:nvPr/>
        </p:nvSpPr>
        <p:spPr>
          <a:xfrm>
            <a:off x="107018" y="669965"/>
            <a:ext cx="1757643" cy="929190"/>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FR" dirty="0"/>
              <a:t>Saisie demande</a:t>
            </a:r>
          </a:p>
        </p:txBody>
      </p:sp>
      <p:sp>
        <p:nvSpPr>
          <p:cNvPr id="6" name="Ellipse 5">
            <a:extLst>
              <a:ext uri="{FF2B5EF4-FFF2-40B4-BE49-F238E27FC236}">
                <a16:creationId xmlns:a16="http://schemas.microsoft.com/office/drawing/2014/main" id="{889AA25A-3777-5643-8A9D-682CD839349D}"/>
              </a:ext>
            </a:extLst>
          </p:cNvPr>
          <p:cNvSpPr/>
          <p:nvPr/>
        </p:nvSpPr>
        <p:spPr>
          <a:xfrm>
            <a:off x="4939555" y="899908"/>
            <a:ext cx="1577788" cy="6992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t>ATU_Demande_HS</a:t>
            </a:r>
            <a:endParaRPr lang="fr-FR" dirty="0"/>
          </a:p>
        </p:txBody>
      </p:sp>
      <p:sp>
        <p:nvSpPr>
          <p:cNvPr id="7" name="ZoneTexte 6">
            <a:extLst>
              <a:ext uri="{FF2B5EF4-FFF2-40B4-BE49-F238E27FC236}">
                <a16:creationId xmlns:a16="http://schemas.microsoft.com/office/drawing/2014/main" id="{B992AEFD-11CC-1C61-EF59-751D47E0E0AF}"/>
              </a:ext>
            </a:extLst>
          </p:cNvPr>
          <p:cNvSpPr txBox="1"/>
          <p:nvPr/>
        </p:nvSpPr>
        <p:spPr>
          <a:xfrm>
            <a:off x="2532532" y="746020"/>
            <a:ext cx="1810870" cy="307777"/>
          </a:xfrm>
          <a:prstGeom prst="rect">
            <a:avLst/>
          </a:prstGeom>
          <a:noFill/>
        </p:spPr>
        <p:txBody>
          <a:bodyPr wrap="square" rtlCol="0">
            <a:spAutoFit/>
          </a:bodyPr>
          <a:lstStyle/>
          <a:p>
            <a:r>
              <a:rPr lang="fr-FR" sz="1400" dirty="0"/>
              <a:t>Demande agent</a:t>
            </a:r>
          </a:p>
        </p:txBody>
      </p:sp>
      <p:cxnSp>
        <p:nvCxnSpPr>
          <p:cNvPr id="9" name="Connecteur droit avec flèche 8">
            <a:extLst>
              <a:ext uri="{FF2B5EF4-FFF2-40B4-BE49-F238E27FC236}">
                <a16:creationId xmlns:a16="http://schemas.microsoft.com/office/drawing/2014/main" id="{E2063AF2-1AC5-90BA-3BCA-48DAE1CF66E2}"/>
              </a:ext>
            </a:extLst>
          </p:cNvPr>
          <p:cNvCxnSpPr>
            <a:cxnSpLocks/>
          </p:cNvCxnSpPr>
          <p:nvPr/>
        </p:nvCxnSpPr>
        <p:spPr>
          <a:xfrm>
            <a:off x="1864661" y="1049315"/>
            <a:ext cx="3074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3A0110C2-CCB6-0E36-D155-98EF36F0E724}"/>
              </a:ext>
            </a:extLst>
          </p:cNvPr>
          <p:cNvSpPr txBox="1"/>
          <p:nvPr/>
        </p:nvSpPr>
        <p:spPr>
          <a:xfrm>
            <a:off x="2460814" y="1180520"/>
            <a:ext cx="1810870" cy="307777"/>
          </a:xfrm>
          <a:prstGeom prst="rect">
            <a:avLst/>
          </a:prstGeom>
          <a:noFill/>
        </p:spPr>
        <p:txBody>
          <a:bodyPr wrap="square" rtlCol="0">
            <a:spAutoFit/>
          </a:bodyPr>
          <a:lstStyle/>
          <a:p>
            <a:r>
              <a:rPr lang="fr-FR" sz="1400" dirty="0"/>
              <a:t>Demande manager</a:t>
            </a:r>
          </a:p>
        </p:txBody>
      </p:sp>
      <p:cxnSp>
        <p:nvCxnSpPr>
          <p:cNvPr id="13" name="Connecteur droit avec flèche 12">
            <a:extLst>
              <a:ext uri="{FF2B5EF4-FFF2-40B4-BE49-F238E27FC236}">
                <a16:creationId xmlns:a16="http://schemas.microsoft.com/office/drawing/2014/main" id="{EE241BB9-A3CD-BCE0-2BA0-570741D15224}"/>
              </a:ext>
            </a:extLst>
          </p:cNvPr>
          <p:cNvCxnSpPr>
            <a:cxnSpLocks/>
          </p:cNvCxnSpPr>
          <p:nvPr/>
        </p:nvCxnSpPr>
        <p:spPr>
          <a:xfrm>
            <a:off x="1900520" y="1485303"/>
            <a:ext cx="3074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eur : en angle 14">
            <a:extLst>
              <a:ext uri="{FF2B5EF4-FFF2-40B4-BE49-F238E27FC236}">
                <a16:creationId xmlns:a16="http://schemas.microsoft.com/office/drawing/2014/main" id="{D85FC582-D7F2-B677-E396-892814D4BA7A}"/>
              </a:ext>
            </a:extLst>
          </p:cNvPr>
          <p:cNvCxnSpPr>
            <a:cxnSpLocks/>
            <a:endCxn id="16" idx="2"/>
          </p:cNvCxnSpPr>
          <p:nvPr/>
        </p:nvCxnSpPr>
        <p:spPr>
          <a:xfrm>
            <a:off x="4052049" y="1485303"/>
            <a:ext cx="975592" cy="58646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Ellipse 15">
            <a:extLst>
              <a:ext uri="{FF2B5EF4-FFF2-40B4-BE49-F238E27FC236}">
                <a16:creationId xmlns:a16="http://schemas.microsoft.com/office/drawing/2014/main" id="{EA78BA3E-2D50-F7B7-90FA-E020744B099C}"/>
              </a:ext>
            </a:extLst>
          </p:cNvPr>
          <p:cNvSpPr/>
          <p:nvPr/>
        </p:nvSpPr>
        <p:spPr>
          <a:xfrm>
            <a:off x="5027641" y="1722146"/>
            <a:ext cx="1887071" cy="6992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t>ATU_Demande_Agents</a:t>
            </a:r>
            <a:endParaRPr lang="fr-FR" dirty="0"/>
          </a:p>
        </p:txBody>
      </p:sp>
      <p:sp>
        <p:nvSpPr>
          <p:cNvPr id="19" name="Ellipse 18">
            <a:extLst>
              <a:ext uri="{FF2B5EF4-FFF2-40B4-BE49-F238E27FC236}">
                <a16:creationId xmlns:a16="http://schemas.microsoft.com/office/drawing/2014/main" id="{39111844-3672-D539-4772-FA8B499F653D}"/>
              </a:ext>
            </a:extLst>
          </p:cNvPr>
          <p:cNvSpPr/>
          <p:nvPr/>
        </p:nvSpPr>
        <p:spPr>
          <a:xfrm>
            <a:off x="6302467" y="4810003"/>
            <a:ext cx="1577788" cy="6992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t>ATU_HS_pointages</a:t>
            </a:r>
            <a:endParaRPr lang="fr-FR" dirty="0"/>
          </a:p>
        </p:txBody>
      </p:sp>
      <p:sp>
        <p:nvSpPr>
          <p:cNvPr id="20" name="Ellipse 19">
            <a:extLst>
              <a:ext uri="{FF2B5EF4-FFF2-40B4-BE49-F238E27FC236}">
                <a16:creationId xmlns:a16="http://schemas.microsoft.com/office/drawing/2014/main" id="{7837FD90-E7D3-9713-FCDB-E854053D2D79}"/>
              </a:ext>
            </a:extLst>
          </p:cNvPr>
          <p:cNvSpPr/>
          <p:nvPr/>
        </p:nvSpPr>
        <p:spPr>
          <a:xfrm>
            <a:off x="6387053" y="3255185"/>
            <a:ext cx="2644590" cy="6992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t>ATU_HS_SemaineAgent</a:t>
            </a:r>
            <a:r>
              <a:rPr lang="fr-FR" dirty="0"/>
              <a:t> ??</a:t>
            </a:r>
          </a:p>
        </p:txBody>
      </p:sp>
      <p:sp>
        <p:nvSpPr>
          <p:cNvPr id="34" name="Rectangle : coins arrondis 33">
            <a:extLst>
              <a:ext uri="{FF2B5EF4-FFF2-40B4-BE49-F238E27FC236}">
                <a16:creationId xmlns:a16="http://schemas.microsoft.com/office/drawing/2014/main" id="{E531411C-88FE-DC33-DE7E-93E61AC795AF}"/>
              </a:ext>
            </a:extLst>
          </p:cNvPr>
          <p:cNvSpPr/>
          <p:nvPr/>
        </p:nvSpPr>
        <p:spPr>
          <a:xfrm>
            <a:off x="80684" y="4610853"/>
            <a:ext cx="1783977" cy="618564"/>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FR" dirty="0"/>
              <a:t>Validation pointages GAP</a:t>
            </a:r>
          </a:p>
        </p:txBody>
      </p:sp>
      <p:sp>
        <p:nvSpPr>
          <p:cNvPr id="42" name="ZoneTexte 41">
            <a:extLst>
              <a:ext uri="{FF2B5EF4-FFF2-40B4-BE49-F238E27FC236}">
                <a16:creationId xmlns:a16="http://schemas.microsoft.com/office/drawing/2014/main" id="{0BDFDC24-ECED-8FBA-EFC1-9707BD840029}"/>
              </a:ext>
            </a:extLst>
          </p:cNvPr>
          <p:cNvSpPr txBox="1"/>
          <p:nvPr/>
        </p:nvSpPr>
        <p:spPr>
          <a:xfrm>
            <a:off x="10121153" y="5120060"/>
            <a:ext cx="2200835" cy="523220"/>
          </a:xfrm>
          <a:prstGeom prst="rect">
            <a:avLst/>
          </a:prstGeom>
          <a:noFill/>
        </p:spPr>
        <p:txBody>
          <a:bodyPr wrap="square" rtlCol="0">
            <a:spAutoFit/>
          </a:bodyPr>
          <a:lstStyle/>
          <a:p>
            <a:r>
              <a:rPr lang="fr-FR" sz="1400" dirty="0"/>
              <a:t>- Statuts</a:t>
            </a:r>
          </a:p>
          <a:p>
            <a:r>
              <a:rPr lang="fr-FR" sz="1400" dirty="0"/>
              <a:t>- Résultats calculs semaine</a:t>
            </a:r>
          </a:p>
        </p:txBody>
      </p:sp>
      <p:cxnSp>
        <p:nvCxnSpPr>
          <p:cNvPr id="22" name="Connecteur droit avec flèche 21">
            <a:extLst>
              <a:ext uri="{FF2B5EF4-FFF2-40B4-BE49-F238E27FC236}">
                <a16:creationId xmlns:a16="http://schemas.microsoft.com/office/drawing/2014/main" id="{D9EA2A2D-1C1B-2490-53B2-82C3435557B1}"/>
              </a:ext>
            </a:extLst>
          </p:cNvPr>
          <p:cNvCxnSpPr>
            <a:cxnSpLocks/>
            <a:stCxn id="39" idx="3"/>
            <a:endCxn id="43" idx="1"/>
          </p:cNvCxnSpPr>
          <p:nvPr/>
        </p:nvCxnSpPr>
        <p:spPr>
          <a:xfrm flipV="1">
            <a:off x="3925656" y="3344903"/>
            <a:ext cx="338710" cy="80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eur : en angle 25">
            <a:extLst>
              <a:ext uri="{FF2B5EF4-FFF2-40B4-BE49-F238E27FC236}">
                <a16:creationId xmlns:a16="http://schemas.microsoft.com/office/drawing/2014/main" id="{9679958F-52B5-3971-9DD3-2D1022445B93}"/>
              </a:ext>
            </a:extLst>
          </p:cNvPr>
          <p:cNvCxnSpPr>
            <a:cxnSpLocks/>
            <a:stCxn id="20" idx="4"/>
          </p:cNvCxnSpPr>
          <p:nvPr/>
        </p:nvCxnSpPr>
        <p:spPr>
          <a:xfrm rot="5400000">
            <a:off x="6995071" y="4095271"/>
            <a:ext cx="855116" cy="573439"/>
          </a:xfrm>
          <a:prstGeom prst="bentConnector3">
            <a:avLst>
              <a:gd name="adj1" fmla="val 299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DBAB279E-B42E-50D8-B963-7D2AF9076A8A}"/>
              </a:ext>
            </a:extLst>
          </p:cNvPr>
          <p:cNvCxnSpPr>
            <a:cxnSpLocks/>
            <a:stCxn id="20" idx="6"/>
            <a:endCxn id="66" idx="0"/>
          </p:cNvCxnSpPr>
          <p:nvPr/>
        </p:nvCxnSpPr>
        <p:spPr>
          <a:xfrm flipV="1">
            <a:off x="9031643" y="3478965"/>
            <a:ext cx="389416" cy="125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5700932E-8247-DCBA-61A5-2933E558D3FD}"/>
              </a:ext>
            </a:extLst>
          </p:cNvPr>
          <p:cNvCxnSpPr>
            <a:cxnSpLocks/>
          </p:cNvCxnSpPr>
          <p:nvPr/>
        </p:nvCxnSpPr>
        <p:spPr>
          <a:xfrm flipH="1">
            <a:off x="1900520" y="4183419"/>
            <a:ext cx="7556398" cy="765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ZoneTexte 32">
            <a:extLst>
              <a:ext uri="{FF2B5EF4-FFF2-40B4-BE49-F238E27FC236}">
                <a16:creationId xmlns:a16="http://schemas.microsoft.com/office/drawing/2014/main" id="{BC07FB22-CBF2-120C-0532-B01A75549E84}"/>
              </a:ext>
            </a:extLst>
          </p:cNvPr>
          <p:cNvSpPr txBox="1"/>
          <p:nvPr/>
        </p:nvSpPr>
        <p:spPr>
          <a:xfrm>
            <a:off x="7552473" y="2899202"/>
            <a:ext cx="1810870" cy="307777"/>
          </a:xfrm>
          <a:prstGeom prst="rect">
            <a:avLst/>
          </a:prstGeom>
          <a:noFill/>
        </p:spPr>
        <p:txBody>
          <a:bodyPr wrap="square" rtlCol="0">
            <a:spAutoFit/>
          </a:bodyPr>
          <a:lstStyle/>
          <a:p>
            <a:r>
              <a:rPr lang="fr-FR" sz="1400" dirty="0" err="1"/>
              <a:t>Dde</a:t>
            </a:r>
            <a:r>
              <a:rPr lang="fr-FR" sz="1400" dirty="0"/>
              <a:t>-agent-semaine</a:t>
            </a:r>
          </a:p>
        </p:txBody>
      </p:sp>
      <p:sp>
        <p:nvSpPr>
          <p:cNvPr id="35" name="ZoneTexte 34">
            <a:extLst>
              <a:ext uri="{FF2B5EF4-FFF2-40B4-BE49-F238E27FC236}">
                <a16:creationId xmlns:a16="http://schemas.microsoft.com/office/drawing/2014/main" id="{35B0AF28-B0C2-37FF-64A2-225582EEA795}"/>
              </a:ext>
            </a:extLst>
          </p:cNvPr>
          <p:cNvSpPr txBox="1"/>
          <p:nvPr/>
        </p:nvSpPr>
        <p:spPr>
          <a:xfrm>
            <a:off x="6977290" y="2134910"/>
            <a:ext cx="1810870" cy="307777"/>
          </a:xfrm>
          <a:prstGeom prst="rect">
            <a:avLst/>
          </a:prstGeom>
          <a:noFill/>
        </p:spPr>
        <p:txBody>
          <a:bodyPr wrap="square" rtlCol="0">
            <a:spAutoFit/>
          </a:bodyPr>
          <a:lstStyle/>
          <a:p>
            <a:r>
              <a:rPr lang="fr-FR" sz="1400" dirty="0" err="1"/>
              <a:t>Dde</a:t>
            </a:r>
            <a:r>
              <a:rPr lang="fr-FR" sz="1400" dirty="0"/>
              <a:t>-agent</a:t>
            </a:r>
          </a:p>
        </p:txBody>
      </p:sp>
      <p:sp>
        <p:nvSpPr>
          <p:cNvPr id="37" name="Rectangle : coins arrondis 36">
            <a:extLst>
              <a:ext uri="{FF2B5EF4-FFF2-40B4-BE49-F238E27FC236}">
                <a16:creationId xmlns:a16="http://schemas.microsoft.com/office/drawing/2014/main" id="{200A766F-9F74-3C98-0F05-CE5933623B63}"/>
              </a:ext>
            </a:extLst>
          </p:cNvPr>
          <p:cNvSpPr/>
          <p:nvPr/>
        </p:nvSpPr>
        <p:spPr>
          <a:xfrm>
            <a:off x="80684" y="2784414"/>
            <a:ext cx="1783977" cy="1137146"/>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FR" dirty="0"/>
              <a:t>Lundi suivant chaque semaine réalisée</a:t>
            </a:r>
          </a:p>
        </p:txBody>
      </p:sp>
      <p:sp>
        <p:nvSpPr>
          <p:cNvPr id="39" name="Rectangle : coins arrondis 38">
            <a:extLst>
              <a:ext uri="{FF2B5EF4-FFF2-40B4-BE49-F238E27FC236}">
                <a16:creationId xmlns:a16="http://schemas.microsoft.com/office/drawing/2014/main" id="{A74CA062-9EFD-BE76-94F1-43C61D57E189}"/>
              </a:ext>
            </a:extLst>
          </p:cNvPr>
          <p:cNvSpPr/>
          <p:nvPr/>
        </p:nvSpPr>
        <p:spPr>
          <a:xfrm>
            <a:off x="2141679" y="2887678"/>
            <a:ext cx="1783977" cy="93061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FR" dirty="0"/>
              <a:t>Validation Agent</a:t>
            </a:r>
          </a:p>
        </p:txBody>
      </p:sp>
      <p:cxnSp>
        <p:nvCxnSpPr>
          <p:cNvPr id="41" name="Connecteur droit avec flèche 40">
            <a:extLst>
              <a:ext uri="{FF2B5EF4-FFF2-40B4-BE49-F238E27FC236}">
                <a16:creationId xmlns:a16="http://schemas.microsoft.com/office/drawing/2014/main" id="{69DD810C-3830-6493-820B-E27E22CDE472}"/>
              </a:ext>
            </a:extLst>
          </p:cNvPr>
          <p:cNvCxnSpPr>
            <a:cxnSpLocks/>
            <a:stCxn id="37" idx="3"/>
            <a:endCxn id="39" idx="1"/>
          </p:cNvCxnSpPr>
          <p:nvPr/>
        </p:nvCxnSpPr>
        <p:spPr>
          <a:xfrm>
            <a:off x="1864661" y="3352987"/>
            <a:ext cx="2770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 coins arrondis 44">
            <a:extLst>
              <a:ext uri="{FF2B5EF4-FFF2-40B4-BE49-F238E27FC236}">
                <a16:creationId xmlns:a16="http://schemas.microsoft.com/office/drawing/2014/main" id="{111FDF61-A37D-0AA0-07B8-FE347EB081F1}"/>
              </a:ext>
            </a:extLst>
          </p:cNvPr>
          <p:cNvSpPr/>
          <p:nvPr/>
        </p:nvSpPr>
        <p:spPr>
          <a:xfrm>
            <a:off x="7185214" y="669965"/>
            <a:ext cx="1793502" cy="904902"/>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FR" dirty="0"/>
              <a:t>Pré -Validation Manager</a:t>
            </a:r>
          </a:p>
        </p:txBody>
      </p:sp>
      <p:sp>
        <p:nvSpPr>
          <p:cNvPr id="46" name="Ellipse 45">
            <a:extLst>
              <a:ext uri="{FF2B5EF4-FFF2-40B4-BE49-F238E27FC236}">
                <a16:creationId xmlns:a16="http://schemas.microsoft.com/office/drawing/2014/main" id="{C435877C-D9C2-DA26-B1BE-4A4076FE1E1D}"/>
              </a:ext>
            </a:extLst>
          </p:cNvPr>
          <p:cNvSpPr/>
          <p:nvPr/>
        </p:nvSpPr>
        <p:spPr>
          <a:xfrm>
            <a:off x="6124853" y="5946007"/>
            <a:ext cx="2644590" cy="6992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t>ATU_HS_resultats</a:t>
            </a:r>
            <a:endParaRPr lang="fr-FR" dirty="0"/>
          </a:p>
        </p:txBody>
      </p:sp>
      <p:cxnSp>
        <p:nvCxnSpPr>
          <p:cNvPr id="48" name="Connecteur droit avec flèche 47">
            <a:extLst>
              <a:ext uri="{FF2B5EF4-FFF2-40B4-BE49-F238E27FC236}">
                <a16:creationId xmlns:a16="http://schemas.microsoft.com/office/drawing/2014/main" id="{C2E16575-E882-38F3-8143-DB4AE832CB8C}"/>
              </a:ext>
            </a:extLst>
          </p:cNvPr>
          <p:cNvCxnSpPr>
            <a:cxnSpLocks/>
            <a:endCxn id="46" idx="7"/>
          </p:cNvCxnSpPr>
          <p:nvPr/>
        </p:nvCxnSpPr>
        <p:spPr>
          <a:xfrm>
            <a:off x="7709348" y="4204331"/>
            <a:ext cx="672804" cy="1844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Rectangle : coins arrondis 1">
            <a:extLst>
              <a:ext uri="{FF2B5EF4-FFF2-40B4-BE49-F238E27FC236}">
                <a16:creationId xmlns:a16="http://schemas.microsoft.com/office/drawing/2014/main" id="{2BE06E3C-59D8-0360-C648-8EA89928CBC7}"/>
              </a:ext>
            </a:extLst>
          </p:cNvPr>
          <p:cNvSpPr/>
          <p:nvPr/>
        </p:nvSpPr>
        <p:spPr>
          <a:xfrm>
            <a:off x="9482119" y="669965"/>
            <a:ext cx="1793502" cy="904902"/>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FR" dirty="0"/>
              <a:t>Pré -Validation GAP</a:t>
            </a:r>
          </a:p>
          <a:p>
            <a:pPr algn="ctr"/>
            <a:endParaRPr lang="fr-FR" dirty="0"/>
          </a:p>
        </p:txBody>
      </p:sp>
      <p:cxnSp>
        <p:nvCxnSpPr>
          <p:cNvPr id="3" name="Connecteur droit avec flèche 2">
            <a:extLst>
              <a:ext uri="{FF2B5EF4-FFF2-40B4-BE49-F238E27FC236}">
                <a16:creationId xmlns:a16="http://schemas.microsoft.com/office/drawing/2014/main" id="{FB575875-C707-24C3-20F8-563C069B3712}"/>
              </a:ext>
            </a:extLst>
          </p:cNvPr>
          <p:cNvCxnSpPr>
            <a:cxnSpLocks/>
            <a:stCxn id="6" idx="6"/>
            <a:endCxn id="45" idx="1"/>
          </p:cNvCxnSpPr>
          <p:nvPr/>
        </p:nvCxnSpPr>
        <p:spPr>
          <a:xfrm flipV="1">
            <a:off x="6517343" y="1122416"/>
            <a:ext cx="667871" cy="127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7B8D57E4-C080-E87B-C1B0-9EEC26FD513F}"/>
              </a:ext>
            </a:extLst>
          </p:cNvPr>
          <p:cNvCxnSpPr>
            <a:cxnSpLocks/>
            <a:endCxn id="2" idx="1"/>
          </p:cNvCxnSpPr>
          <p:nvPr/>
        </p:nvCxnSpPr>
        <p:spPr>
          <a:xfrm>
            <a:off x="8978716" y="1122416"/>
            <a:ext cx="5034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2">
            <a:extLst>
              <a:ext uri="{FF2B5EF4-FFF2-40B4-BE49-F238E27FC236}">
                <a16:creationId xmlns:a16="http://schemas.microsoft.com/office/drawing/2014/main" id="{6B6E7FFD-16AA-FE72-C0FF-6B5D46B7DED7}"/>
              </a:ext>
            </a:extLst>
          </p:cNvPr>
          <p:cNvCxnSpPr>
            <a:cxnSpLocks/>
            <a:stCxn id="16" idx="6"/>
          </p:cNvCxnSpPr>
          <p:nvPr/>
        </p:nvCxnSpPr>
        <p:spPr>
          <a:xfrm flipV="1">
            <a:off x="6914712" y="1518473"/>
            <a:ext cx="2656731" cy="5532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Flèche : courbe vers la gauche 26">
            <a:extLst>
              <a:ext uri="{FF2B5EF4-FFF2-40B4-BE49-F238E27FC236}">
                <a16:creationId xmlns:a16="http://schemas.microsoft.com/office/drawing/2014/main" id="{704C7F0D-2177-3BEE-C5EE-940170E11AE2}"/>
              </a:ext>
            </a:extLst>
          </p:cNvPr>
          <p:cNvSpPr/>
          <p:nvPr/>
        </p:nvSpPr>
        <p:spPr>
          <a:xfrm>
            <a:off x="348792" y="1628584"/>
            <a:ext cx="821099" cy="1078380"/>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Mail</a:t>
            </a:r>
          </a:p>
        </p:txBody>
      </p:sp>
      <p:sp>
        <p:nvSpPr>
          <p:cNvPr id="43" name="Rectangle : coins arrondis 42">
            <a:extLst>
              <a:ext uri="{FF2B5EF4-FFF2-40B4-BE49-F238E27FC236}">
                <a16:creationId xmlns:a16="http://schemas.microsoft.com/office/drawing/2014/main" id="{82C933D3-41C1-C2D6-1DA7-681ACF8DFC1A}"/>
              </a:ext>
            </a:extLst>
          </p:cNvPr>
          <p:cNvSpPr/>
          <p:nvPr/>
        </p:nvSpPr>
        <p:spPr>
          <a:xfrm>
            <a:off x="4264366" y="2826893"/>
            <a:ext cx="1783977" cy="1036020"/>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FR" dirty="0"/>
              <a:t>Validation Manager</a:t>
            </a:r>
          </a:p>
        </p:txBody>
      </p:sp>
      <p:sp>
        <p:nvSpPr>
          <p:cNvPr id="57" name="ZoneTexte 56">
            <a:extLst>
              <a:ext uri="{FF2B5EF4-FFF2-40B4-BE49-F238E27FC236}">
                <a16:creationId xmlns:a16="http://schemas.microsoft.com/office/drawing/2014/main" id="{59044637-FF3B-8194-1B29-F15C1F5B615D}"/>
              </a:ext>
            </a:extLst>
          </p:cNvPr>
          <p:cNvSpPr txBox="1"/>
          <p:nvPr/>
        </p:nvSpPr>
        <p:spPr>
          <a:xfrm>
            <a:off x="1343323" y="1986748"/>
            <a:ext cx="1810870" cy="523220"/>
          </a:xfrm>
          <a:prstGeom prst="rect">
            <a:avLst/>
          </a:prstGeom>
          <a:noFill/>
        </p:spPr>
        <p:txBody>
          <a:bodyPr wrap="square" rtlCol="0">
            <a:spAutoFit/>
          </a:bodyPr>
          <a:lstStyle/>
          <a:p>
            <a:r>
              <a:rPr lang="fr-FR" sz="1400" dirty="0"/>
              <a:t>Automate tous les lundis</a:t>
            </a:r>
          </a:p>
        </p:txBody>
      </p:sp>
      <p:cxnSp>
        <p:nvCxnSpPr>
          <p:cNvPr id="62" name="Connecteur droit avec flèche 61">
            <a:extLst>
              <a:ext uri="{FF2B5EF4-FFF2-40B4-BE49-F238E27FC236}">
                <a16:creationId xmlns:a16="http://schemas.microsoft.com/office/drawing/2014/main" id="{266FA9C0-67C3-6D27-5667-C9E2A02EABC2}"/>
              </a:ext>
            </a:extLst>
          </p:cNvPr>
          <p:cNvCxnSpPr>
            <a:cxnSpLocks/>
            <a:stCxn id="43" idx="3"/>
            <a:endCxn id="20" idx="2"/>
          </p:cNvCxnSpPr>
          <p:nvPr/>
        </p:nvCxnSpPr>
        <p:spPr>
          <a:xfrm>
            <a:off x="6048343" y="3344903"/>
            <a:ext cx="338710" cy="2599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Flèche : courbe vers la gauche 65">
            <a:extLst>
              <a:ext uri="{FF2B5EF4-FFF2-40B4-BE49-F238E27FC236}">
                <a16:creationId xmlns:a16="http://schemas.microsoft.com/office/drawing/2014/main" id="{4DBC4152-A361-029F-5890-A54B3B6C4E6F}"/>
              </a:ext>
            </a:extLst>
          </p:cNvPr>
          <p:cNvSpPr/>
          <p:nvPr/>
        </p:nvSpPr>
        <p:spPr>
          <a:xfrm>
            <a:off x="9421059" y="3376328"/>
            <a:ext cx="821099" cy="983846"/>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2AP</a:t>
            </a:r>
          </a:p>
        </p:txBody>
      </p:sp>
      <p:sp>
        <p:nvSpPr>
          <p:cNvPr id="69" name="ZoneTexte 68">
            <a:extLst>
              <a:ext uri="{FF2B5EF4-FFF2-40B4-BE49-F238E27FC236}">
                <a16:creationId xmlns:a16="http://schemas.microsoft.com/office/drawing/2014/main" id="{E4F17DD7-A5CD-1563-6E2B-BC4AD366BED6}"/>
              </a:ext>
            </a:extLst>
          </p:cNvPr>
          <p:cNvSpPr txBox="1"/>
          <p:nvPr/>
        </p:nvSpPr>
        <p:spPr>
          <a:xfrm>
            <a:off x="10433989" y="3353591"/>
            <a:ext cx="1810870" cy="738664"/>
          </a:xfrm>
          <a:prstGeom prst="rect">
            <a:avLst/>
          </a:prstGeom>
          <a:noFill/>
        </p:spPr>
        <p:txBody>
          <a:bodyPr wrap="square" rtlCol="0">
            <a:spAutoFit/>
          </a:bodyPr>
          <a:lstStyle/>
          <a:p>
            <a:r>
              <a:rPr lang="fr-FR" sz="1400" dirty="0"/>
              <a:t>Automate 2AP de récupération des badgeages</a:t>
            </a:r>
          </a:p>
        </p:txBody>
      </p:sp>
      <p:cxnSp>
        <p:nvCxnSpPr>
          <p:cNvPr id="75" name="Connecteur droit avec flèche 74">
            <a:extLst>
              <a:ext uri="{FF2B5EF4-FFF2-40B4-BE49-F238E27FC236}">
                <a16:creationId xmlns:a16="http://schemas.microsoft.com/office/drawing/2014/main" id="{888710AA-0850-E298-658A-07FBD2575A76}"/>
              </a:ext>
            </a:extLst>
          </p:cNvPr>
          <p:cNvCxnSpPr>
            <a:cxnSpLocks/>
            <a:stCxn id="37" idx="2"/>
            <a:endCxn id="34" idx="0"/>
          </p:cNvCxnSpPr>
          <p:nvPr/>
        </p:nvCxnSpPr>
        <p:spPr>
          <a:xfrm>
            <a:off x="972673" y="3921560"/>
            <a:ext cx="0" cy="68929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EB4E3F7B-C384-DBFC-C290-DEFE0A4EAD9A}"/>
              </a:ext>
            </a:extLst>
          </p:cNvPr>
          <p:cNvCxnSpPr>
            <a:cxnSpLocks/>
            <a:stCxn id="66" idx="2"/>
            <a:endCxn id="20" idx="5"/>
          </p:cNvCxnSpPr>
          <p:nvPr/>
        </p:nvCxnSpPr>
        <p:spPr>
          <a:xfrm flipH="1" flipV="1">
            <a:off x="8644352" y="3852030"/>
            <a:ext cx="776707" cy="302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Connecteur : en angle 96">
            <a:extLst>
              <a:ext uri="{FF2B5EF4-FFF2-40B4-BE49-F238E27FC236}">
                <a16:creationId xmlns:a16="http://schemas.microsoft.com/office/drawing/2014/main" id="{8B00413B-DBFE-BC71-5A89-E00101D6D7CC}"/>
              </a:ext>
            </a:extLst>
          </p:cNvPr>
          <p:cNvCxnSpPr>
            <a:cxnSpLocks/>
            <a:stCxn id="2" idx="2"/>
          </p:cNvCxnSpPr>
          <p:nvPr/>
        </p:nvCxnSpPr>
        <p:spPr>
          <a:xfrm rot="5400000">
            <a:off x="5183848" y="-2636309"/>
            <a:ext cx="983846" cy="940619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Connecteur droit avec flèche 102">
            <a:extLst>
              <a:ext uri="{FF2B5EF4-FFF2-40B4-BE49-F238E27FC236}">
                <a16:creationId xmlns:a16="http://schemas.microsoft.com/office/drawing/2014/main" id="{C376878F-8377-D91E-35BE-50F4DDE16331}"/>
              </a:ext>
            </a:extLst>
          </p:cNvPr>
          <p:cNvCxnSpPr>
            <a:cxnSpLocks/>
            <a:stCxn id="27" idx="2"/>
          </p:cNvCxnSpPr>
          <p:nvPr/>
        </p:nvCxnSpPr>
        <p:spPr>
          <a:xfrm>
            <a:off x="348792" y="2501689"/>
            <a:ext cx="0" cy="3111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4E3682E3-0DC2-CB3E-908A-1031278EDEA3}"/>
              </a:ext>
            </a:extLst>
          </p:cNvPr>
          <p:cNvSpPr txBox="1"/>
          <p:nvPr/>
        </p:nvSpPr>
        <p:spPr>
          <a:xfrm>
            <a:off x="8659691" y="1654688"/>
            <a:ext cx="1315466" cy="261610"/>
          </a:xfrm>
          <a:prstGeom prst="rect">
            <a:avLst/>
          </a:prstGeom>
          <a:noFill/>
        </p:spPr>
        <p:txBody>
          <a:bodyPr wrap="square">
            <a:spAutoFit/>
          </a:bodyPr>
          <a:lstStyle/>
          <a:p>
            <a:r>
              <a:rPr lang="fr-FR" sz="1100" dirty="0"/>
              <a:t>0  - A traiter</a:t>
            </a:r>
          </a:p>
        </p:txBody>
      </p:sp>
      <p:sp>
        <p:nvSpPr>
          <p:cNvPr id="14" name="ZoneTexte 13">
            <a:extLst>
              <a:ext uri="{FF2B5EF4-FFF2-40B4-BE49-F238E27FC236}">
                <a16:creationId xmlns:a16="http://schemas.microsoft.com/office/drawing/2014/main" id="{886F5323-78E4-0151-3878-524E50A3D415}"/>
              </a:ext>
            </a:extLst>
          </p:cNvPr>
          <p:cNvSpPr txBox="1"/>
          <p:nvPr/>
        </p:nvSpPr>
        <p:spPr>
          <a:xfrm>
            <a:off x="5547550" y="555336"/>
            <a:ext cx="1924814" cy="600164"/>
          </a:xfrm>
          <a:prstGeom prst="rect">
            <a:avLst/>
          </a:prstGeom>
          <a:noFill/>
        </p:spPr>
        <p:txBody>
          <a:bodyPr wrap="square">
            <a:spAutoFit/>
          </a:bodyPr>
          <a:lstStyle/>
          <a:p>
            <a:pPr algn="ctr"/>
            <a:r>
              <a:rPr lang="fr-FR" sz="1100" dirty="0"/>
              <a:t>20 - Demande en attente de validation du responsable hiérarchique</a:t>
            </a:r>
          </a:p>
        </p:txBody>
      </p:sp>
      <p:sp>
        <p:nvSpPr>
          <p:cNvPr id="21" name="ZoneTexte 20">
            <a:extLst>
              <a:ext uri="{FF2B5EF4-FFF2-40B4-BE49-F238E27FC236}">
                <a16:creationId xmlns:a16="http://schemas.microsoft.com/office/drawing/2014/main" id="{2DA92A70-8FEE-5290-2600-5A3CCD090832}"/>
              </a:ext>
            </a:extLst>
          </p:cNvPr>
          <p:cNvSpPr txBox="1"/>
          <p:nvPr/>
        </p:nvSpPr>
        <p:spPr>
          <a:xfrm>
            <a:off x="8854748" y="282721"/>
            <a:ext cx="2532810" cy="430887"/>
          </a:xfrm>
          <a:prstGeom prst="rect">
            <a:avLst/>
          </a:prstGeom>
          <a:noFill/>
        </p:spPr>
        <p:txBody>
          <a:bodyPr wrap="square">
            <a:spAutoFit/>
          </a:bodyPr>
          <a:lstStyle/>
          <a:p>
            <a:r>
              <a:rPr lang="fr-FR" sz="1100" dirty="0">
                <a:solidFill>
                  <a:schemeClr val="accent6"/>
                </a:solidFill>
              </a:rPr>
              <a:t>22 - Approuvé par le responsable hiérarchique</a:t>
            </a:r>
          </a:p>
        </p:txBody>
      </p:sp>
      <p:sp>
        <p:nvSpPr>
          <p:cNvPr id="44" name="ZoneTexte 43">
            <a:extLst>
              <a:ext uri="{FF2B5EF4-FFF2-40B4-BE49-F238E27FC236}">
                <a16:creationId xmlns:a16="http://schemas.microsoft.com/office/drawing/2014/main" id="{1351762D-CDBF-441A-ED8D-8C71993666BB}"/>
              </a:ext>
            </a:extLst>
          </p:cNvPr>
          <p:cNvSpPr txBox="1"/>
          <p:nvPr/>
        </p:nvSpPr>
        <p:spPr>
          <a:xfrm>
            <a:off x="6678966" y="1283020"/>
            <a:ext cx="1915603" cy="430887"/>
          </a:xfrm>
          <a:prstGeom prst="rect">
            <a:avLst/>
          </a:prstGeom>
          <a:noFill/>
        </p:spPr>
        <p:txBody>
          <a:bodyPr wrap="square">
            <a:spAutoFit/>
          </a:bodyPr>
          <a:lstStyle/>
          <a:p>
            <a:r>
              <a:rPr lang="fr-FR" sz="1100" dirty="0">
                <a:solidFill>
                  <a:srgbClr val="FF0000"/>
                </a:solidFill>
              </a:rPr>
              <a:t>24 - Non approuvé par le responsable hiérarchique</a:t>
            </a:r>
          </a:p>
        </p:txBody>
      </p:sp>
      <p:sp>
        <p:nvSpPr>
          <p:cNvPr id="49" name="ZoneTexte 48">
            <a:extLst>
              <a:ext uri="{FF2B5EF4-FFF2-40B4-BE49-F238E27FC236}">
                <a16:creationId xmlns:a16="http://schemas.microsoft.com/office/drawing/2014/main" id="{16B71944-C0C3-E31B-77D8-BD465CDA7F97}"/>
              </a:ext>
            </a:extLst>
          </p:cNvPr>
          <p:cNvSpPr txBox="1"/>
          <p:nvPr/>
        </p:nvSpPr>
        <p:spPr>
          <a:xfrm>
            <a:off x="9660558" y="1957964"/>
            <a:ext cx="2145906" cy="261610"/>
          </a:xfrm>
          <a:prstGeom prst="rect">
            <a:avLst/>
          </a:prstGeom>
          <a:noFill/>
        </p:spPr>
        <p:txBody>
          <a:bodyPr wrap="square">
            <a:spAutoFit/>
          </a:bodyPr>
          <a:lstStyle/>
          <a:p>
            <a:r>
              <a:rPr lang="fr-FR" sz="1100" dirty="0">
                <a:solidFill>
                  <a:schemeClr val="accent6"/>
                </a:solidFill>
              </a:rPr>
              <a:t>362 Demande validée par la GAP</a:t>
            </a:r>
          </a:p>
        </p:txBody>
      </p:sp>
      <p:sp>
        <p:nvSpPr>
          <p:cNvPr id="51" name="ZoneTexte 50">
            <a:extLst>
              <a:ext uri="{FF2B5EF4-FFF2-40B4-BE49-F238E27FC236}">
                <a16:creationId xmlns:a16="http://schemas.microsoft.com/office/drawing/2014/main" id="{7AF044FB-FBD5-38A1-0B36-6518B14BEDC8}"/>
              </a:ext>
            </a:extLst>
          </p:cNvPr>
          <p:cNvSpPr txBox="1"/>
          <p:nvPr/>
        </p:nvSpPr>
        <p:spPr>
          <a:xfrm>
            <a:off x="9302254" y="1109664"/>
            <a:ext cx="2246664" cy="369332"/>
          </a:xfrm>
          <a:prstGeom prst="rect">
            <a:avLst/>
          </a:prstGeom>
          <a:noFill/>
        </p:spPr>
        <p:txBody>
          <a:bodyPr wrap="square">
            <a:spAutoFit/>
          </a:bodyPr>
          <a:lstStyle/>
          <a:p>
            <a:r>
              <a:rPr lang="fr-FR" sz="1800" dirty="0"/>
              <a:t> </a:t>
            </a:r>
            <a:r>
              <a:rPr lang="fr-FR" sz="1100" dirty="0">
                <a:solidFill>
                  <a:srgbClr val="FF0000"/>
                </a:solidFill>
              </a:rPr>
              <a:t>363 - Demande rejetée par la GAP</a:t>
            </a:r>
          </a:p>
        </p:txBody>
      </p:sp>
      <p:sp>
        <p:nvSpPr>
          <p:cNvPr id="53" name="ZoneTexte 52">
            <a:extLst>
              <a:ext uri="{FF2B5EF4-FFF2-40B4-BE49-F238E27FC236}">
                <a16:creationId xmlns:a16="http://schemas.microsoft.com/office/drawing/2014/main" id="{E44DD314-38A1-8EAE-6D64-1E70D49B4486}"/>
              </a:ext>
            </a:extLst>
          </p:cNvPr>
          <p:cNvSpPr txBox="1"/>
          <p:nvPr/>
        </p:nvSpPr>
        <p:spPr>
          <a:xfrm>
            <a:off x="9228875" y="1310453"/>
            <a:ext cx="2577589" cy="261610"/>
          </a:xfrm>
          <a:prstGeom prst="rect">
            <a:avLst/>
          </a:prstGeom>
          <a:noFill/>
        </p:spPr>
        <p:txBody>
          <a:bodyPr wrap="square">
            <a:spAutoFit/>
          </a:bodyPr>
          <a:lstStyle/>
          <a:p>
            <a:r>
              <a:rPr lang="fr-FR" sz="1100" dirty="0"/>
              <a:t>361 - Demande prise en charge par la GAP</a:t>
            </a:r>
          </a:p>
        </p:txBody>
      </p:sp>
      <p:sp>
        <p:nvSpPr>
          <p:cNvPr id="55" name="ZoneTexte 54">
            <a:extLst>
              <a:ext uri="{FF2B5EF4-FFF2-40B4-BE49-F238E27FC236}">
                <a16:creationId xmlns:a16="http://schemas.microsoft.com/office/drawing/2014/main" id="{4B4A6743-926D-89B0-AEEA-204E776C4669}"/>
              </a:ext>
            </a:extLst>
          </p:cNvPr>
          <p:cNvSpPr txBox="1"/>
          <p:nvPr/>
        </p:nvSpPr>
        <p:spPr>
          <a:xfrm>
            <a:off x="616900" y="2565532"/>
            <a:ext cx="1354771" cy="261610"/>
          </a:xfrm>
          <a:prstGeom prst="rect">
            <a:avLst/>
          </a:prstGeom>
          <a:noFill/>
        </p:spPr>
        <p:txBody>
          <a:bodyPr wrap="square">
            <a:spAutoFit/>
          </a:bodyPr>
          <a:lstStyle/>
          <a:p>
            <a:r>
              <a:rPr lang="fr-FR" sz="1100" dirty="0"/>
              <a:t>0 - A traiter (Agent) </a:t>
            </a:r>
          </a:p>
        </p:txBody>
      </p:sp>
      <p:sp>
        <p:nvSpPr>
          <p:cNvPr id="58" name="ZoneTexte 57">
            <a:extLst>
              <a:ext uri="{FF2B5EF4-FFF2-40B4-BE49-F238E27FC236}">
                <a16:creationId xmlns:a16="http://schemas.microsoft.com/office/drawing/2014/main" id="{56B92996-0769-B6E0-0A83-329D60B44448}"/>
              </a:ext>
            </a:extLst>
          </p:cNvPr>
          <p:cNvSpPr txBox="1"/>
          <p:nvPr/>
        </p:nvSpPr>
        <p:spPr>
          <a:xfrm>
            <a:off x="2284428" y="3572694"/>
            <a:ext cx="1621025" cy="261610"/>
          </a:xfrm>
          <a:prstGeom prst="rect">
            <a:avLst/>
          </a:prstGeom>
          <a:noFill/>
        </p:spPr>
        <p:txBody>
          <a:bodyPr wrap="square">
            <a:spAutoFit/>
          </a:bodyPr>
          <a:lstStyle/>
          <a:p>
            <a:r>
              <a:rPr lang="fr-FR" sz="1100" dirty="0">
                <a:solidFill>
                  <a:srgbClr val="FF0000"/>
                </a:solidFill>
              </a:rPr>
              <a:t>733 - Rejeté par l’agent</a:t>
            </a:r>
          </a:p>
        </p:txBody>
      </p:sp>
      <p:sp>
        <p:nvSpPr>
          <p:cNvPr id="59" name="ZoneTexte 58">
            <a:extLst>
              <a:ext uri="{FF2B5EF4-FFF2-40B4-BE49-F238E27FC236}">
                <a16:creationId xmlns:a16="http://schemas.microsoft.com/office/drawing/2014/main" id="{5DC9E092-54CA-9564-ADB3-256C679273A0}"/>
              </a:ext>
            </a:extLst>
          </p:cNvPr>
          <p:cNvSpPr txBox="1"/>
          <p:nvPr/>
        </p:nvSpPr>
        <p:spPr>
          <a:xfrm>
            <a:off x="2897189" y="3801681"/>
            <a:ext cx="1621025" cy="261610"/>
          </a:xfrm>
          <a:prstGeom prst="rect">
            <a:avLst/>
          </a:prstGeom>
          <a:noFill/>
        </p:spPr>
        <p:txBody>
          <a:bodyPr wrap="square">
            <a:spAutoFit/>
          </a:bodyPr>
          <a:lstStyle/>
          <a:p>
            <a:r>
              <a:rPr lang="fr-FR" sz="1100" dirty="0">
                <a:solidFill>
                  <a:schemeClr val="accent6"/>
                </a:solidFill>
              </a:rPr>
              <a:t>734 - Validé par l’agent</a:t>
            </a:r>
          </a:p>
        </p:txBody>
      </p:sp>
      <p:sp>
        <p:nvSpPr>
          <p:cNvPr id="60" name="ZoneTexte 59">
            <a:extLst>
              <a:ext uri="{FF2B5EF4-FFF2-40B4-BE49-F238E27FC236}">
                <a16:creationId xmlns:a16="http://schemas.microsoft.com/office/drawing/2014/main" id="{FCF724B2-FD47-29BB-6C52-C7C127E12B3C}"/>
              </a:ext>
            </a:extLst>
          </p:cNvPr>
          <p:cNvSpPr txBox="1"/>
          <p:nvPr/>
        </p:nvSpPr>
        <p:spPr>
          <a:xfrm>
            <a:off x="4315072" y="3521744"/>
            <a:ext cx="1976065" cy="430887"/>
          </a:xfrm>
          <a:prstGeom prst="rect">
            <a:avLst/>
          </a:prstGeom>
          <a:noFill/>
        </p:spPr>
        <p:txBody>
          <a:bodyPr wrap="square">
            <a:spAutoFit/>
          </a:bodyPr>
          <a:lstStyle/>
          <a:p>
            <a:r>
              <a:rPr lang="fr-FR" sz="1100" dirty="0">
                <a:solidFill>
                  <a:srgbClr val="FF0000"/>
                </a:solidFill>
              </a:rPr>
              <a:t>736 – Réalisé Non approuvé par le responsable hiérarchique</a:t>
            </a:r>
          </a:p>
        </p:txBody>
      </p:sp>
      <p:sp>
        <p:nvSpPr>
          <p:cNvPr id="61" name="ZoneTexte 60">
            <a:extLst>
              <a:ext uri="{FF2B5EF4-FFF2-40B4-BE49-F238E27FC236}">
                <a16:creationId xmlns:a16="http://schemas.microsoft.com/office/drawing/2014/main" id="{EF5866A8-9124-9484-21EF-471EE373D432}"/>
              </a:ext>
            </a:extLst>
          </p:cNvPr>
          <p:cNvSpPr txBox="1"/>
          <p:nvPr/>
        </p:nvSpPr>
        <p:spPr>
          <a:xfrm>
            <a:off x="5092613" y="3911119"/>
            <a:ext cx="2532810" cy="430887"/>
          </a:xfrm>
          <a:prstGeom prst="rect">
            <a:avLst/>
          </a:prstGeom>
          <a:noFill/>
        </p:spPr>
        <p:txBody>
          <a:bodyPr wrap="square">
            <a:spAutoFit/>
          </a:bodyPr>
          <a:lstStyle/>
          <a:p>
            <a:r>
              <a:rPr lang="fr-FR" sz="1100" dirty="0">
                <a:solidFill>
                  <a:schemeClr val="accent6"/>
                </a:solidFill>
              </a:rPr>
              <a:t>737 – Réalisé Approuvé par le responsable hiérarchique</a:t>
            </a:r>
          </a:p>
        </p:txBody>
      </p:sp>
      <p:sp>
        <p:nvSpPr>
          <p:cNvPr id="64" name="ZoneTexte 63">
            <a:extLst>
              <a:ext uri="{FF2B5EF4-FFF2-40B4-BE49-F238E27FC236}">
                <a16:creationId xmlns:a16="http://schemas.microsoft.com/office/drawing/2014/main" id="{945FC30F-73AD-6BE5-99E7-12B33292E541}"/>
              </a:ext>
            </a:extLst>
          </p:cNvPr>
          <p:cNvSpPr txBox="1"/>
          <p:nvPr/>
        </p:nvSpPr>
        <p:spPr>
          <a:xfrm>
            <a:off x="7851682" y="4317355"/>
            <a:ext cx="1485774" cy="261610"/>
          </a:xfrm>
          <a:prstGeom prst="rect">
            <a:avLst/>
          </a:prstGeom>
          <a:noFill/>
        </p:spPr>
        <p:txBody>
          <a:bodyPr wrap="square">
            <a:spAutoFit/>
          </a:bodyPr>
          <a:lstStyle/>
          <a:p>
            <a:r>
              <a:rPr lang="fr-FR" sz="1100" b="0" i="0" dirty="0">
                <a:solidFill>
                  <a:schemeClr val="accent6"/>
                </a:solidFill>
                <a:effectLst/>
                <a:latin typeface="Segoe UI" panose="020B0502040204020203" pitchFamily="34" charset="0"/>
              </a:rPr>
              <a:t>722 - TraitéeOk2AP</a:t>
            </a:r>
            <a:endParaRPr lang="fr-FR" sz="1100" dirty="0">
              <a:solidFill>
                <a:schemeClr val="accent6"/>
              </a:solidFill>
            </a:endParaRPr>
          </a:p>
        </p:txBody>
      </p:sp>
      <p:sp>
        <p:nvSpPr>
          <p:cNvPr id="65" name="ZoneTexte 64">
            <a:extLst>
              <a:ext uri="{FF2B5EF4-FFF2-40B4-BE49-F238E27FC236}">
                <a16:creationId xmlns:a16="http://schemas.microsoft.com/office/drawing/2014/main" id="{65948C48-8941-F0EB-0555-6EF27299DEE5}"/>
              </a:ext>
            </a:extLst>
          </p:cNvPr>
          <p:cNvSpPr txBox="1"/>
          <p:nvPr/>
        </p:nvSpPr>
        <p:spPr>
          <a:xfrm>
            <a:off x="10063144" y="4037678"/>
            <a:ext cx="1485774" cy="261610"/>
          </a:xfrm>
          <a:prstGeom prst="rect">
            <a:avLst/>
          </a:prstGeom>
          <a:noFill/>
        </p:spPr>
        <p:txBody>
          <a:bodyPr wrap="square">
            <a:spAutoFit/>
          </a:bodyPr>
          <a:lstStyle/>
          <a:p>
            <a:r>
              <a:rPr lang="fr-FR" sz="1100" b="0" i="0" dirty="0">
                <a:solidFill>
                  <a:srgbClr val="FF0000"/>
                </a:solidFill>
                <a:effectLst/>
                <a:latin typeface="Segoe UI" panose="020B0502040204020203" pitchFamily="34" charset="0"/>
              </a:rPr>
              <a:t>724 - TraitéeKO2AP</a:t>
            </a:r>
            <a:endParaRPr lang="fr-FR" sz="1100" dirty="0">
              <a:solidFill>
                <a:srgbClr val="FF0000"/>
              </a:solidFill>
            </a:endParaRPr>
          </a:p>
        </p:txBody>
      </p:sp>
      <p:sp>
        <p:nvSpPr>
          <p:cNvPr id="67" name="ZoneTexte 66">
            <a:extLst>
              <a:ext uri="{FF2B5EF4-FFF2-40B4-BE49-F238E27FC236}">
                <a16:creationId xmlns:a16="http://schemas.microsoft.com/office/drawing/2014/main" id="{52F2A50E-9834-594E-4F01-9F6CAB1F0EFE}"/>
              </a:ext>
            </a:extLst>
          </p:cNvPr>
          <p:cNvSpPr txBox="1"/>
          <p:nvPr/>
        </p:nvSpPr>
        <p:spPr>
          <a:xfrm>
            <a:off x="8611876" y="5579431"/>
            <a:ext cx="1354771" cy="261610"/>
          </a:xfrm>
          <a:prstGeom prst="rect">
            <a:avLst/>
          </a:prstGeom>
          <a:noFill/>
        </p:spPr>
        <p:txBody>
          <a:bodyPr wrap="square">
            <a:spAutoFit/>
          </a:bodyPr>
          <a:lstStyle/>
          <a:p>
            <a:r>
              <a:rPr lang="fr-FR" sz="1100" dirty="0"/>
              <a:t>0 - A traiter</a:t>
            </a:r>
          </a:p>
        </p:txBody>
      </p:sp>
      <p:cxnSp>
        <p:nvCxnSpPr>
          <p:cNvPr id="70" name="Connecteur droit avec flèche 69">
            <a:extLst>
              <a:ext uri="{FF2B5EF4-FFF2-40B4-BE49-F238E27FC236}">
                <a16:creationId xmlns:a16="http://schemas.microsoft.com/office/drawing/2014/main" id="{44A20C2C-C38C-10DE-D8C3-B9EF43AE2555}"/>
              </a:ext>
            </a:extLst>
          </p:cNvPr>
          <p:cNvCxnSpPr>
            <a:cxnSpLocks/>
            <a:stCxn id="66" idx="2"/>
          </p:cNvCxnSpPr>
          <p:nvPr/>
        </p:nvCxnSpPr>
        <p:spPr>
          <a:xfrm flipH="1">
            <a:off x="8457908" y="4154899"/>
            <a:ext cx="963151" cy="1791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eur : en angle 72">
            <a:extLst>
              <a:ext uri="{FF2B5EF4-FFF2-40B4-BE49-F238E27FC236}">
                <a16:creationId xmlns:a16="http://schemas.microsoft.com/office/drawing/2014/main" id="{B88370F1-95D0-7C7C-13F9-A31AF7F50B61}"/>
              </a:ext>
            </a:extLst>
          </p:cNvPr>
          <p:cNvCxnSpPr>
            <a:stCxn id="34" idx="2"/>
            <a:endCxn id="46" idx="2"/>
          </p:cNvCxnSpPr>
          <p:nvPr/>
        </p:nvCxnSpPr>
        <p:spPr>
          <a:xfrm rot="16200000" flipH="1">
            <a:off x="3015656" y="3186434"/>
            <a:ext cx="1066214" cy="515218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ZoneTexte 75">
            <a:extLst>
              <a:ext uri="{FF2B5EF4-FFF2-40B4-BE49-F238E27FC236}">
                <a16:creationId xmlns:a16="http://schemas.microsoft.com/office/drawing/2014/main" id="{0C96A546-62BD-E9B4-533B-CE7103A51A58}"/>
              </a:ext>
            </a:extLst>
          </p:cNvPr>
          <p:cNvSpPr txBox="1"/>
          <p:nvPr/>
        </p:nvSpPr>
        <p:spPr>
          <a:xfrm>
            <a:off x="938403" y="4323523"/>
            <a:ext cx="2215790" cy="261610"/>
          </a:xfrm>
          <a:prstGeom prst="rect">
            <a:avLst/>
          </a:prstGeom>
          <a:noFill/>
        </p:spPr>
        <p:txBody>
          <a:bodyPr wrap="square">
            <a:spAutoFit/>
          </a:bodyPr>
          <a:lstStyle/>
          <a:p>
            <a:r>
              <a:rPr lang="fr-FR" sz="1100" b="0" i="0" dirty="0">
                <a:solidFill>
                  <a:srgbClr val="FF0000"/>
                </a:solidFill>
                <a:effectLst/>
                <a:latin typeface="Segoe UI" panose="020B0502040204020203" pitchFamily="34" charset="0"/>
              </a:rPr>
              <a:t>730 - Pointage rejeté par la GAP</a:t>
            </a:r>
            <a:endParaRPr lang="fr-FR" sz="1100" dirty="0">
              <a:solidFill>
                <a:srgbClr val="FF0000"/>
              </a:solidFill>
            </a:endParaRPr>
          </a:p>
        </p:txBody>
      </p:sp>
      <p:sp>
        <p:nvSpPr>
          <p:cNvPr id="77" name="ZoneTexte 76">
            <a:extLst>
              <a:ext uri="{FF2B5EF4-FFF2-40B4-BE49-F238E27FC236}">
                <a16:creationId xmlns:a16="http://schemas.microsoft.com/office/drawing/2014/main" id="{BF53A7F7-2FFB-0F74-6A22-8B7C6AD33ECD}"/>
              </a:ext>
            </a:extLst>
          </p:cNvPr>
          <p:cNvSpPr txBox="1"/>
          <p:nvPr/>
        </p:nvSpPr>
        <p:spPr>
          <a:xfrm>
            <a:off x="917733" y="5227816"/>
            <a:ext cx="2547694" cy="261610"/>
          </a:xfrm>
          <a:prstGeom prst="rect">
            <a:avLst/>
          </a:prstGeom>
          <a:noFill/>
        </p:spPr>
        <p:txBody>
          <a:bodyPr wrap="square">
            <a:spAutoFit/>
          </a:bodyPr>
          <a:lstStyle/>
          <a:p>
            <a:r>
              <a:rPr lang="fr-FR" sz="1100" b="0" i="0" dirty="0">
                <a:solidFill>
                  <a:schemeClr val="accent6"/>
                </a:solidFill>
                <a:effectLst/>
                <a:latin typeface="Segoe UI" panose="020B0502040204020203" pitchFamily="34" charset="0"/>
              </a:rPr>
              <a:t>731 - Pointage validé par la GAP</a:t>
            </a:r>
            <a:endParaRPr lang="fr-FR" sz="1100" dirty="0">
              <a:solidFill>
                <a:schemeClr val="accent6"/>
              </a:solidFill>
            </a:endParaRPr>
          </a:p>
        </p:txBody>
      </p:sp>
      <p:sp>
        <p:nvSpPr>
          <p:cNvPr id="79" name="ZoneTexte 78">
            <a:extLst>
              <a:ext uri="{FF2B5EF4-FFF2-40B4-BE49-F238E27FC236}">
                <a16:creationId xmlns:a16="http://schemas.microsoft.com/office/drawing/2014/main" id="{11E30043-F92E-9728-EA92-8CE7F0BA3FB1}"/>
              </a:ext>
            </a:extLst>
          </p:cNvPr>
          <p:cNvSpPr txBox="1"/>
          <p:nvPr/>
        </p:nvSpPr>
        <p:spPr>
          <a:xfrm>
            <a:off x="-52950" y="3969231"/>
            <a:ext cx="1121336" cy="261610"/>
          </a:xfrm>
          <a:prstGeom prst="rect">
            <a:avLst/>
          </a:prstGeom>
          <a:noFill/>
        </p:spPr>
        <p:txBody>
          <a:bodyPr wrap="square">
            <a:spAutoFit/>
          </a:bodyPr>
          <a:lstStyle/>
          <a:p>
            <a:r>
              <a:rPr lang="fr-FR" sz="1100" dirty="0">
                <a:solidFill>
                  <a:srgbClr val="FF0000"/>
                </a:solidFill>
              </a:rPr>
              <a:t>735 - A revalider</a:t>
            </a:r>
          </a:p>
        </p:txBody>
      </p:sp>
      <p:sp>
        <p:nvSpPr>
          <p:cNvPr id="8" name="Croix 7">
            <a:extLst>
              <a:ext uri="{FF2B5EF4-FFF2-40B4-BE49-F238E27FC236}">
                <a16:creationId xmlns:a16="http://schemas.microsoft.com/office/drawing/2014/main" id="{7936B0F2-FF5E-9362-B527-908388906823}"/>
              </a:ext>
            </a:extLst>
          </p:cNvPr>
          <p:cNvSpPr/>
          <p:nvPr/>
        </p:nvSpPr>
        <p:spPr>
          <a:xfrm>
            <a:off x="7237938" y="3018452"/>
            <a:ext cx="963151" cy="1068744"/>
          </a:xfrm>
          <a:prstGeom prst="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8" name="Connecteur droit 17">
            <a:extLst>
              <a:ext uri="{FF2B5EF4-FFF2-40B4-BE49-F238E27FC236}">
                <a16:creationId xmlns:a16="http://schemas.microsoft.com/office/drawing/2014/main" id="{4C771BB5-10B0-C589-9792-3BE83FE32F62}"/>
              </a:ext>
            </a:extLst>
          </p:cNvPr>
          <p:cNvCxnSpPr/>
          <p:nvPr/>
        </p:nvCxnSpPr>
        <p:spPr>
          <a:xfrm flipV="1">
            <a:off x="348792" y="292005"/>
            <a:ext cx="10926829" cy="612784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0439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BDEC2F01-ABDA-380B-EC42-09172BD02E30}"/>
              </a:ext>
            </a:extLst>
          </p:cNvPr>
          <p:cNvSpPr txBox="1"/>
          <p:nvPr/>
        </p:nvSpPr>
        <p:spPr>
          <a:xfrm>
            <a:off x="496526" y="292005"/>
            <a:ext cx="7550316" cy="369332"/>
          </a:xfrm>
          <a:prstGeom prst="rect">
            <a:avLst/>
          </a:prstGeom>
          <a:noFill/>
        </p:spPr>
        <p:txBody>
          <a:bodyPr wrap="square" rtlCol="0">
            <a:spAutoFit/>
          </a:bodyPr>
          <a:lstStyle/>
          <a:p>
            <a:r>
              <a:rPr lang="fr-FR" dirty="0"/>
              <a:t>Heures Supplémentaires – avec validation de l’agent sur les badgeages</a:t>
            </a:r>
          </a:p>
        </p:txBody>
      </p:sp>
      <p:sp>
        <p:nvSpPr>
          <p:cNvPr id="5" name="Rectangle : coins arrondis 4">
            <a:extLst>
              <a:ext uri="{FF2B5EF4-FFF2-40B4-BE49-F238E27FC236}">
                <a16:creationId xmlns:a16="http://schemas.microsoft.com/office/drawing/2014/main" id="{3A0F54D7-E45F-7EDB-E7B4-2584A8EA51CA}"/>
              </a:ext>
            </a:extLst>
          </p:cNvPr>
          <p:cNvSpPr/>
          <p:nvPr/>
        </p:nvSpPr>
        <p:spPr>
          <a:xfrm>
            <a:off x="107018" y="669965"/>
            <a:ext cx="1757643" cy="929190"/>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FR" dirty="0"/>
              <a:t>Saisie demande</a:t>
            </a:r>
          </a:p>
        </p:txBody>
      </p:sp>
      <p:sp>
        <p:nvSpPr>
          <p:cNvPr id="6" name="Ellipse 5">
            <a:extLst>
              <a:ext uri="{FF2B5EF4-FFF2-40B4-BE49-F238E27FC236}">
                <a16:creationId xmlns:a16="http://schemas.microsoft.com/office/drawing/2014/main" id="{889AA25A-3777-5643-8A9D-682CD839349D}"/>
              </a:ext>
            </a:extLst>
          </p:cNvPr>
          <p:cNvSpPr/>
          <p:nvPr/>
        </p:nvSpPr>
        <p:spPr>
          <a:xfrm>
            <a:off x="4939555" y="899908"/>
            <a:ext cx="1577788" cy="6992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t>ATU_Demande_HS</a:t>
            </a:r>
            <a:endParaRPr lang="fr-FR" dirty="0"/>
          </a:p>
        </p:txBody>
      </p:sp>
      <p:sp>
        <p:nvSpPr>
          <p:cNvPr id="7" name="ZoneTexte 6">
            <a:extLst>
              <a:ext uri="{FF2B5EF4-FFF2-40B4-BE49-F238E27FC236}">
                <a16:creationId xmlns:a16="http://schemas.microsoft.com/office/drawing/2014/main" id="{B992AEFD-11CC-1C61-EF59-751D47E0E0AF}"/>
              </a:ext>
            </a:extLst>
          </p:cNvPr>
          <p:cNvSpPr txBox="1"/>
          <p:nvPr/>
        </p:nvSpPr>
        <p:spPr>
          <a:xfrm>
            <a:off x="2532532" y="746020"/>
            <a:ext cx="1810870" cy="307777"/>
          </a:xfrm>
          <a:prstGeom prst="rect">
            <a:avLst/>
          </a:prstGeom>
          <a:noFill/>
        </p:spPr>
        <p:txBody>
          <a:bodyPr wrap="square" rtlCol="0">
            <a:spAutoFit/>
          </a:bodyPr>
          <a:lstStyle/>
          <a:p>
            <a:r>
              <a:rPr lang="fr-FR" sz="1400" dirty="0"/>
              <a:t>Demande agent</a:t>
            </a:r>
          </a:p>
        </p:txBody>
      </p:sp>
      <p:cxnSp>
        <p:nvCxnSpPr>
          <p:cNvPr id="9" name="Connecteur droit avec flèche 8">
            <a:extLst>
              <a:ext uri="{FF2B5EF4-FFF2-40B4-BE49-F238E27FC236}">
                <a16:creationId xmlns:a16="http://schemas.microsoft.com/office/drawing/2014/main" id="{E2063AF2-1AC5-90BA-3BCA-48DAE1CF66E2}"/>
              </a:ext>
            </a:extLst>
          </p:cNvPr>
          <p:cNvCxnSpPr>
            <a:cxnSpLocks/>
          </p:cNvCxnSpPr>
          <p:nvPr/>
        </p:nvCxnSpPr>
        <p:spPr>
          <a:xfrm>
            <a:off x="1864661" y="1049315"/>
            <a:ext cx="3074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3A0110C2-CCB6-0E36-D155-98EF36F0E724}"/>
              </a:ext>
            </a:extLst>
          </p:cNvPr>
          <p:cNvSpPr txBox="1"/>
          <p:nvPr/>
        </p:nvSpPr>
        <p:spPr>
          <a:xfrm>
            <a:off x="2460814" y="1180520"/>
            <a:ext cx="1810870" cy="307777"/>
          </a:xfrm>
          <a:prstGeom prst="rect">
            <a:avLst/>
          </a:prstGeom>
          <a:noFill/>
        </p:spPr>
        <p:txBody>
          <a:bodyPr wrap="square" rtlCol="0">
            <a:spAutoFit/>
          </a:bodyPr>
          <a:lstStyle/>
          <a:p>
            <a:r>
              <a:rPr lang="fr-FR" sz="1400" dirty="0"/>
              <a:t>Demande manager</a:t>
            </a:r>
          </a:p>
        </p:txBody>
      </p:sp>
      <p:cxnSp>
        <p:nvCxnSpPr>
          <p:cNvPr id="13" name="Connecteur droit avec flèche 12">
            <a:extLst>
              <a:ext uri="{FF2B5EF4-FFF2-40B4-BE49-F238E27FC236}">
                <a16:creationId xmlns:a16="http://schemas.microsoft.com/office/drawing/2014/main" id="{EE241BB9-A3CD-BCE0-2BA0-570741D15224}"/>
              </a:ext>
            </a:extLst>
          </p:cNvPr>
          <p:cNvCxnSpPr>
            <a:cxnSpLocks/>
          </p:cNvCxnSpPr>
          <p:nvPr/>
        </p:nvCxnSpPr>
        <p:spPr>
          <a:xfrm>
            <a:off x="1900520" y="1485303"/>
            <a:ext cx="3074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Ellipse 15">
            <a:extLst>
              <a:ext uri="{FF2B5EF4-FFF2-40B4-BE49-F238E27FC236}">
                <a16:creationId xmlns:a16="http://schemas.microsoft.com/office/drawing/2014/main" id="{EA78BA3E-2D50-F7B7-90FA-E020744B099C}"/>
              </a:ext>
            </a:extLst>
          </p:cNvPr>
          <p:cNvSpPr/>
          <p:nvPr/>
        </p:nvSpPr>
        <p:spPr>
          <a:xfrm>
            <a:off x="6693231" y="2494104"/>
            <a:ext cx="1887071" cy="6992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t>ATU_Demande_Agents</a:t>
            </a:r>
            <a:endParaRPr lang="fr-FR" dirty="0"/>
          </a:p>
        </p:txBody>
      </p:sp>
      <p:sp>
        <p:nvSpPr>
          <p:cNvPr id="19" name="Ellipse 18">
            <a:extLst>
              <a:ext uri="{FF2B5EF4-FFF2-40B4-BE49-F238E27FC236}">
                <a16:creationId xmlns:a16="http://schemas.microsoft.com/office/drawing/2014/main" id="{39111844-3672-D539-4772-FA8B499F653D}"/>
              </a:ext>
            </a:extLst>
          </p:cNvPr>
          <p:cNvSpPr/>
          <p:nvPr/>
        </p:nvSpPr>
        <p:spPr>
          <a:xfrm>
            <a:off x="6302467" y="4810003"/>
            <a:ext cx="1577788" cy="6992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t>ATU_HS_pointages</a:t>
            </a:r>
            <a:endParaRPr lang="fr-FR" dirty="0"/>
          </a:p>
        </p:txBody>
      </p:sp>
      <p:sp>
        <p:nvSpPr>
          <p:cNvPr id="34" name="Rectangle : coins arrondis 33">
            <a:extLst>
              <a:ext uri="{FF2B5EF4-FFF2-40B4-BE49-F238E27FC236}">
                <a16:creationId xmlns:a16="http://schemas.microsoft.com/office/drawing/2014/main" id="{E531411C-88FE-DC33-DE7E-93E61AC795AF}"/>
              </a:ext>
            </a:extLst>
          </p:cNvPr>
          <p:cNvSpPr/>
          <p:nvPr/>
        </p:nvSpPr>
        <p:spPr>
          <a:xfrm>
            <a:off x="80684" y="4610853"/>
            <a:ext cx="1783977" cy="618564"/>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FR" dirty="0"/>
              <a:t>Validation pointages GAP</a:t>
            </a:r>
          </a:p>
        </p:txBody>
      </p:sp>
      <p:sp>
        <p:nvSpPr>
          <p:cNvPr id="42" name="ZoneTexte 41">
            <a:extLst>
              <a:ext uri="{FF2B5EF4-FFF2-40B4-BE49-F238E27FC236}">
                <a16:creationId xmlns:a16="http://schemas.microsoft.com/office/drawing/2014/main" id="{0BDFDC24-ECED-8FBA-EFC1-9707BD840029}"/>
              </a:ext>
            </a:extLst>
          </p:cNvPr>
          <p:cNvSpPr txBox="1"/>
          <p:nvPr/>
        </p:nvSpPr>
        <p:spPr>
          <a:xfrm>
            <a:off x="10121153" y="5120060"/>
            <a:ext cx="2200835" cy="523220"/>
          </a:xfrm>
          <a:prstGeom prst="rect">
            <a:avLst/>
          </a:prstGeom>
          <a:noFill/>
        </p:spPr>
        <p:txBody>
          <a:bodyPr wrap="square" rtlCol="0">
            <a:spAutoFit/>
          </a:bodyPr>
          <a:lstStyle/>
          <a:p>
            <a:r>
              <a:rPr lang="fr-FR" sz="1400" dirty="0"/>
              <a:t>- Statuts</a:t>
            </a:r>
          </a:p>
          <a:p>
            <a:r>
              <a:rPr lang="fr-FR" sz="1400" dirty="0"/>
              <a:t>- Résultats calculs semaine</a:t>
            </a:r>
          </a:p>
        </p:txBody>
      </p:sp>
      <p:cxnSp>
        <p:nvCxnSpPr>
          <p:cNvPr id="22" name="Connecteur droit avec flèche 21">
            <a:extLst>
              <a:ext uri="{FF2B5EF4-FFF2-40B4-BE49-F238E27FC236}">
                <a16:creationId xmlns:a16="http://schemas.microsoft.com/office/drawing/2014/main" id="{D9EA2A2D-1C1B-2490-53B2-82C3435557B1}"/>
              </a:ext>
            </a:extLst>
          </p:cNvPr>
          <p:cNvCxnSpPr>
            <a:cxnSpLocks/>
            <a:stCxn id="39" idx="3"/>
            <a:endCxn id="43" idx="1"/>
          </p:cNvCxnSpPr>
          <p:nvPr/>
        </p:nvCxnSpPr>
        <p:spPr>
          <a:xfrm flipV="1">
            <a:off x="3925656" y="3344903"/>
            <a:ext cx="338710" cy="80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eur : en angle 25">
            <a:extLst>
              <a:ext uri="{FF2B5EF4-FFF2-40B4-BE49-F238E27FC236}">
                <a16:creationId xmlns:a16="http://schemas.microsoft.com/office/drawing/2014/main" id="{9679958F-52B5-3971-9DD3-2D1022445B93}"/>
              </a:ext>
            </a:extLst>
          </p:cNvPr>
          <p:cNvCxnSpPr>
            <a:cxnSpLocks/>
          </p:cNvCxnSpPr>
          <p:nvPr/>
        </p:nvCxnSpPr>
        <p:spPr>
          <a:xfrm rot="5400000">
            <a:off x="6614194" y="3798320"/>
            <a:ext cx="1532946" cy="48951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5700932E-8247-DCBA-61A5-2933E558D3FD}"/>
              </a:ext>
            </a:extLst>
          </p:cNvPr>
          <p:cNvCxnSpPr>
            <a:cxnSpLocks/>
          </p:cNvCxnSpPr>
          <p:nvPr/>
        </p:nvCxnSpPr>
        <p:spPr>
          <a:xfrm flipH="1">
            <a:off x="1900520" y="4183419"/>
            <a:ext cx="7556398" cy="765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ZoneTexte 34">
            <a:extLst>
              <a:ext uri="{FF2B5EF4-FFF2-40B4-BE49-F238E27FC236}">
                <a16:creationId xmlns:a16="http://schemas.microsoft.com/office/drawing/2014/main" id="{35B0AF28-B0C2-37FF-64A2-225582EEA795}"/>
              </a:ext>
            </a:extLst>
          </p:cNvPr>
          <p:cNvSpPr txBox="1"/>
          <p:nvPr/>
        </p:nvSpPr>
        <p:spPr>
          <a:xfrm>
            <a:off x="6977290" y="2134910"/>
            <a:ext cx="1810870" cy="307777"/>
          </a:xfrm>
          <a:prstGeom prst="rect">
            <a:avLst/>
          </a:prstGeom>
          <a:noFill/>
        </p:spPr>
        <p:txBody>
          <a:bodyPr wrap="square" rtlCol="0">
            <a:spAutoFit/>
          </a:bodyPr>
          <a:lstStyle/>
          <a:p>
            <a:r>
              <a:rPr lang="fr-FR" sz="1400" dirty="0" err="1"/>
              <a:t>Dde</a:t>
            </a:r>
            <a:r>
              <a:rPr lang="fr-FR" sz="1400" dirty="0"/>
              <a:t>-agent</a:t>
            </a:r>
          </a:p>
        </p:txBody>
      </p:sp>
      <p:sp>
        <p:nvSpPr>
          <p:cNvPr id="37" name="Rectangle : coins arrondis 36">
            <a:extLst>
              <a:ext uri="{FF2B5EF4-FFF2-40B4-BE49-F238E27FC236}">
                <a16:creationId xmlns:a16="http://schemas.microsoft.com/office/drawing/2014/main" id="{200A766F-9F74-3C98-0F05-CE5933623B63}"/>
              </a:ext>
            </a:extLst>
          </p:cNvPr>
          <p:cNvSpPr/>
          <p:nvPr/>
        </p:nvSpPr>
        <p:spPr>
          <a:xfrm>
            <a:off x="80684" y="2784414"/>
            <a:ext cx="1783977" cy="1137146"/>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FR" dirty="0"/>
              <a:t>Lundi suivant chaque semaine réalisée</a:t>
            </a:r>
          </a:p>
        </p:txBody>
      </p:sp>
      <p:sp>
        <p:nvSpPr>
          <p:cNvPr id="39" name="Rectangle : coins arrondis 38">
            <a:extLst>
              <a:ext uri="{FF2B5EF4-FFF2-40B4-BE49-F238E27FC236}">
                <a16:creationId xmlns:a16="http://schemas.microsoft.com/office/drawing/2014/main" id="{A74CA062-9EFD-BE76-94F1-43C61D57E189}"/>
              </a:ext>
            </a:extLst>
          </p:cNvPr>
          <p:cNvSpPr/>
          <p:nvPr/>
        </p:nvSpPr>
        <p:spPr>
          <a:xfrm>
            <a:off x="2141679" y="2887678"/>
            <a:ext cx="1783977" cy="93061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FR" dirty="0"/>
              <a:t>Validation Agent</a:t>
            </a:r>
          </a:p>
        </p:txBody>
      </p:sp>
      <p:cxnSp>
        <p:nvCxnSpPr>
          <p:cNvPr id="41" name="Connecteur droit avec flèche 40">
            <a:extLst>
              <a:ext uri="{FF2B5EF4-FFF2-40B4-BE49-F238E27FC236}">
                <a16:creationId xmlns:a16="http://schemas.microsoft.com/office/drawing/2014/main" id="{69DD810C-3830-6493-820B-E27E22CDE472}"/>
              </a:ext>
            </a:extLst>
          </p:cNvPr>
          <p:cNvCxnSpPr>
            <a:cxnSpLocks/>
            <a:stCxn id="37" idx="3"/>
            <a:endCxn id="39" idx="1"/>
          </p:cNvCxnSpPr>
          <p:nvPr/>
        </p:nvCxnSpPr>
        <p:spPr>
          <a:xfrm>
            <a:off x="1864661" y="3352987"/>
            <a:ext cx="2770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 coins arrondis 44">
            <a:extLst>
              <a:ext uri="{FF2B5EF4-FFF2-40B4-BE49-F238E27FC236}">
                <a16:creationId xmlns:a16="http://schemas.microsoft.com/office/drawing/2014/main" id="{111FDF61-A37D-0AA0-07B8-FE347EB081F1}"/>
              </a:ext>
            </a:extLst>
          </p:cNvPr>
          <p:cNvSpPr/>
          <p:nvPr/>
        </p:nvSpPr>
        <p:spPr>
          <a:xfrm>
            <a:off x="7185214" y="669965"/>
            <a:ext cx="1793502" cy="904902"/>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FR" dirty="0"/>
              <a:t>Pré -Validation Manager</a:t>
            </a:r>
          </a:p>
        </p:txBody>
      </p:sp>
      <p:sp>
        <p:nvSpPr>
          <p:cNvPr id="46" name="Ellipse 45">
            <a:extLst>
              <a:ext uri="{FF2B5EF4-FFF2-40B4-BE49-F238E27FC236}">
                <a16:creationId xmlns:a16="http://schemas.microsoft.com/office/drawing/2014/main" id="{C435877C-D9C2-DA26-B1BE-4A4076FE1E1D}"/>
              </a:ext>
            </a:extLst>
          </p:cNvPr>
          <p:cNvSpPr/>
          <p:nvPr/>
        </p:nvSpPr>
        <p:spPr>
          <a:xfrm>
            <a:off x="6124853" y="5946007"/>
            <a:ext cx="2644590" cy="6992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t>ATU_HS_resultats</a:t>
            </a:r>
            <a:endParaRPr lang="fr-FR" dirty="0"/>
          </a:p>
        </p:txBody>
      </p:sp>
      <p:cxnSp>
        <p:nvCxnSpPr>
          <p:cNvPr id="48" name="Connecteur droit avec flèche 47">
            <a:extLst>
              <a:ext uri="{FF2B5EF4-FFF2-40B4-BE49-F238E27FC236}">
                <a16:creationId xmlns:a16="http://schemas.microsoft.com/office/drawing/2014/main" id="{C2E16575-E882-38F3-8143-DB4AE832CB8C}"/>
              </a:ext>
            </a:extLst>
          </p:cNvPr>
          <p:cNvCxnSpPr>
            <a:cxnSpLocks/>
            <a:endCxn id="46" idx="7"/>
          </p:cNvCxnSpPr>
          <p:nvPr/>
        </p:nvCxnSpPr>
        <p:spPr>
          <a:xfrm>
            <a:off x="7625423" y="4037678"/>
            <a:ext cx="756729" cy="2010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Rectangle : coins arrondis 1">
            <a:extLst>
              <a:ext uri="{FF2B5EF4-FFF2-40B4-BE49-F238E27FC236}">
                <a16:creationId xmlns:a16="http://schemas.microsoft.com/office/drawing/2014/main" id="{2BE06E3C-59D8-0360-C648-8EA89928CBC7}"/>
              </a:ext>
            </a:extLst>
          </p:cNvPr>
          <p:cNvSpPr/>
          <p:nvPr/>
        </p:nvSpPr>
        <p:spPr>
          <a:xfrm>
            <a:off x="9482119" y="669965"/>
            <a:ext cx="1793502" cy="904902"/>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FR" dirty="0"/>
              <a:t>Pré -Validation GAP</a:t>
            </a:r>
          </a:p>
          <a:p>
            <a:pPr algn="ctr"/>
            <a:endParaRPr lang="fr-FR" dirty="0"/>
          </a:p>
        </p:txBody>
      </p:sp>
      <p:cxnSp>
        <p:nvCxnSpPr>
          <p:cNvPr id="3" name="Connecteur droit avec flèche 2">
            <a:extLst>
              <a:ext uri="{FF2B5EF4-FFF2-40B4-BE49-F238E27FC236}">
                <a16:creationId xmlns:a16="http://schemas.microsoft.com/office/drawing/2014/main" id="{FB575875-C707-24C3-20F8-563C069B3712}"/>
              </a:ext>
            </a:extLst>
          </p:cNvPr>
          <p:cNvCxnSpPr>
            <a:cxnSpLocks/>
            <a:stCxn id="6" idx="6"/>
            <a:endCxn id="45" idx="1"/>
          </p:cNvCxnSpPr>
          <p:nvPr/>
        </p:nvCxnSpPr>
        <p:spPr>
          <a:xfrm flipV="1">
            <a:off x="6517343" y="1122416"/>
            <a:ext cx="667871" cy="127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7B8D57E4-C080-E87B-C1B0-9EEC26FD513F}"/>
              </a:ext>
            </a:extLst>
          </p:cNvPr>
          <p:cNvCxnSpPr>
            <a:cxnSpLocks/>
            <a:endCxn id="2" idx="1"/>
          </p:cNvCxnSpPr>
          <p:nvPr/>
        </p:nvCxnSpPr>
        <p:spPr>
          <a:xfrm>
            <a:off x="8978716" y="1122416"/>
            <a:ext cx="5034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2">
            <a:extLst>
              <a:ext uri="{FF2B5EF4-FFF2-40B4-BE49-F238E27FC236}">
                <a16:creationId xmlns:a16="http://schemas.microsoft.com/office/drawing/2014/main" id="{6B6E7FFD-16AA-FE72-C0FF-6B5D46B7DED7}"/>
              </a:ext>
            </a:extLst>
          </p:cNvPr>
          <p:cNvCxnSpPr>
            <a:cxnSpLocks/>
          </p:cNvCxnSpPr>
          <p:nvPr/>
        </p:nvCxnSpPr>
        <p:spPr>
          <a:xfrm flipV="1">
            <a:off x="7880255" y="1622235"/>
            <a:ext cx="2251448" cy="6573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Flèche : courbe vers la gauche 26">
            <a:extLst>
              <a:ext uri="{FF2B5EF4-FFF2-40B4-BE49-F238E27FC236}">
                <a16:creationId xmlns:a16="http://schemas.microsoft.com/office/drawing/2014/main" id="{704C7F0D-2177-3BEE-C5EE-940170E11AE2}"/>
              </a:ext>
            </a:extLst>
          </p:cNvPr>
          <p:cNvSpPr/>
          <p:nvPr/>
        </p:nvSpPr>
        <p:spPr>
          <a:xfrm>
            <a:off x="348792" y="1628584"/>
            <a:ext cx="821099" cy="1078380"/>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Mail</a:t>
            </a:r>
          </a:p>
        </p:txBody>
      </p:sp>
      <p:sp>
        <p:nvSpPr>
          <p:cNvPr id="43" name="Rectangle : coins arrondis 42">
            <a:extLst>
              <a:ext uri="{FF2B5EF4-FFF2-40B4-BE49-F238E27FC236}">
                <a16:creationId xmlns:a16="http://schemas.microsoft.com/office/drawing/2014/main" id="{82C933D3-41C1-C2D6-1DA7-681ACF8DFC1A}"/>
              </a:ext>
            </a:extLst>
          </p:cNvPr>
          <p:cNvSpPr/>
          <p:nvPr/>
        </p:nvSpPr>
        <p:spPr>
          <a:xfrm>
            <a:off x="4264366" y="2826893"/>
            <a:ext cx="1783977" cy="1036020"/>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FR" dirty="0"/>
              <a:t>Validation Manager</a:t>
            </a:r>
          </a:p>
        </p:txBody>
      </p:sp>
      <p:sp>
        <p:nvSpPr>
          <p:cNvPr id="57" name="ZoneTexte 56">
            <a:extLst>
              <a:ext uri="{FF2B5EF4-FFF2-40B4-BE49-F238E27FC236}">
                <a16:creationId xmlns:a16="http://schemas.microsoft.com/office/drawing/2014/main" id="{59044637-FF3B-8194-1B29-F15C1F5B615D}"/>
              </a:ext>
            </a:extLst>
          </p:cNvPr>
          <p:cNvSpPr txBox="1"/>
          <p:nvPr/>
        </p:nvSpPr>
        <p:spPr>
          <a:xfrm>
            <a:off x="1343323" y="1986748"/>
            <a:ext cx="1810870" cy="523220"/>
          </a:xfrm>
          <a:prstGeom prst="rect">
            <a:avLst/>
          </a:prstGeom>
          <a:noFill/>
        </p:spPr>
        <p:txBody>
          <a:bodyPr wrap="square" rtlCol="0">
            <a:spAutoFit/>
          </a:bodyPr>
          <a:lstStyle/>
          <a:p>
            <a:r>
              <a:rPr lang="fr-FR" sz="1400" dirty="0"/>
              <a:t>Automate tous les lundis</a:t>
            </a:r>
          </a:p>
        </p:txBody>
      </p:sp>
      <p:cxnSp>
        <p:nvCxnSpPr>
          <p:cNvPr id="62" name="Connecteur droit avec flèche 61">
            <a:extLst>
              <a:ext uri="{FF2B5EF4-FFF2-40B4-BE49-F238E27FC236}">
                <a16:creationId xmlns:a16="http://schemas.microsoft.com/office/drawing/2014/main" id="{266FA9C0-67C3-6D27-5667-C9E2A02EABC2}"/>
              </a:ext>
            </a:extLst>
          </p:cNvPr>
          <p:cNvCxnSpPr>
            <a:cxnSpLocks/>
            <a:stCxn id="43" idx="3"/>
          </p:cNvCxnSpPr>
          <p:nvPr/>
        </p:nvCxnSpPr>
        <p:spPr>
          <a:xfrm flipV="1">
            <a:off x="6048343" y="3001914"/>
            <a:ext cx="644888" cy="342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Flèche : courbe vers la gauche 65">
            <a:extLst>
              <a:ext uri="{FF2B5EF4-FFF2-40B4-BE49-F238E27FC236}">
                <a16:creationId xmlns:a16="http://schemas.microsoft.com/office/drawing/2014/main" id="{4DBC4152-A361-029F-5890-A54B3B6C4E6F}"/>
              </a:ext>
            </a:extLst>
          </p:cNvPr>
          <p:cNvSpPr/>
          <p:nvPr/>
        </p:nvSpPr>
        <p:spPr>
          <a:xfrm>
            <a:off x="9421059" y="3376328"/>
            <a:ext cx="821099" cy="983846"/>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2AP</a:t>
            </a:r>
          </a:p>
        </p:txBody>
      </p:sp>
      <p:sp>
        <p:nvSpPr>
          <p:cNvPr id="69" name="ZoneTexte 68">
            <a:extLst>
              <a:ext uri="{FF2B5EF4-FFF2-40B4-BE49-F238E27FC236}">
                <a16:creationId xmlns:a16="http://schemas.microsoft.com/office/drawing/2014/main" id="{E4F17DD7-A5CD-1563-6E2B-BC4AD366BED6}"/>
              </a:ext>
            </a:extLst>
          </p:cNvPr>
          <p:cNvSpPr txBox="1"/>
          <p:nvPr/>
        </p:nvSpPr>
        <p:spPr>
          <a:xfrm>
            <a:off x="10433989" y="3353591"/>
            <a:ext cx="1810870" cy="738664"/>
          </a:xfrm>
          <a:prstGeom prst="rect">
            <a:avLst/>
          </a:prstGeom>
          <a:noFill/>
        </p:spPr>
        <p:txBody>
          <a:bodyPr wrap="square" rtlCol="0">
            <a:spAutoFit/>
          </a:bodyPr>
          <a:lstStyle/>
          <a:p>
            <a:r>
              <a:rPr lang="fr-FR" sz="1400" dirty="0"/>
              <a:t>Automate 2AP de récupération des badgeages</a:t>
            </a:r>
          </a:p>
        </p:txBody>
      </p:sp>
      <p:cxnSp>
        <p:nvCxnSpPr>
          <p:cNvPr id="75" name="Connecteur droit avec flèche 74">
            <a:extLst>
              <a:ext uri="{FF2B5EF4-FFF2-40B4-BE49-F238E27FC236}">
                <a16:creationId xmlns:a16="http://schemas.microsoft.com/office/drawing/2014/main" id="{888710AA-0850-E298-658A-07FBD2575A76}"/>
              </a:ext>
            </a:extLst>
          </p:cNvPr>
          <p:cNvCxnSpPr>
            <a:cxnSpLocks/>
            <a:stCxn id="37" idx="2"/>
            <a:endCxn id="34" idx="0"/>
          </p:cNvCxnSpPr>
          <p:nvPr/>
        </p:nvCxnSpPr>
        <p:spPr>
          <a:xfrm>
            <a:off x="972673" y="3921560"/>
            <a:ext cx="0" cy="68929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EB4E3F7B-C384-DBFC-C290-DEFE0A4EAD9A}"/>
              </a:ext>
            </a:extLst>
          </p:cNvPr>
          <p:cNvCxnSpPr>
            <a:cxnSpLocks/>
            <a:stCxn id="66" idx="2"/>
          </p:cNvCxnSpPr>
          <p:nvPr/>
        </p:nvCxnSpPr>
        <p:spPr>
          <a:xfrm flipH="1" flipV="1">
            <a:off x="8089170" y="3186996"/>
            <a:ext cx="1331889" cy="967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Connecteur : en angle 96">
            <a:extLst>
              <a:ext uri="{FF2B5EF4-FFF2-40B4-BE49-F238E27FC236}">
                <a16:creationId xmlns:a16="http://schemas.microsoft.com/office/drawing/2014/main" id="{8B00413B-DBFE-BC71-5A89-E00101D6D7CC}"/>
              </a:ext>
            </a:extLst>
          </p:cNvPr>
          <p:cNvCxnSpPr>
            <a:cxnSpLocks/>
            <a:stCxn id="2" idx="2"/>
          </p:cNvCxnSpPr>
          <p:nvPr/>
        </p:nvCxnSpPr>
        <p:spPr>
          <a:xfrm rot="5400000">
            <a:off x="5183848" y="-2636309"/>
            <a:ext cx="983846" cy="940619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Connecteur droit avec flèche 102">
            <a:extLst>
              <a:ext uri="{FF2B5EF4-FFF2-40B4-BE49-F238E27FC236}">
                <a16:creationId xmlns:a16="http://schemas.microsoft.com/office/drawing/2014/main" id="{C376878F-8377-D91E-35BE-50F4DDE16331}"/>
              </a:ext>
            </a:extLst>
          </p:cNvPr>
          <p:cNvCxnSpPr>
            <a:cxnSpLocks/>
            <a:stCxn id="27" idx="2"/>
          </p:cNvCxnSpPr>
          <p:nvPr/>
        </p:nvCxnSpPr>
        <p:spPr>
          <a:xfrm>
            <a:off x="348792" y="2501689"/>
            <a:ext cx="0" cy="3111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4E3682E3-0DC2-CB3E-908A-1031278EDEA3}"/>
              </a:ext>
            </a:extLst>
          </p:cNvPr>
          <p:cNvSpPr txBox="1"/>
          <p:nvPr/>
        </p:nvSpPr>
        <p:spPr>
          <a:xfrm>
            <a:off x="8659691" y="1654688"/>
            <a:ext cx="1315466" cy="261610"/>
          </a:xfrm>
          <a:prstGeom prst="rect">
            <a:avLst/>
          </a:prstGeom>
          <a:noFill/>
        </p:spPr>
        <p:txBody>
          <a:bodyPr wrap="square">
            <a:spAutoFit/>
          </a:bodyPr>
          <a:lstStyle/>
          <a:p>
            <a:r>
              <a:rPr lang="fr-FR" sz="1100" dirty="0"/>
              <a:t>0  - A traiter</a:t>
            </a:r>
          </a:p>
        </p:txBody>
      </p:sp>
      <p:sp>
        <p:nvSpPr>
          <p:cNvPr id="14" name="ZoneTexte 13">
            <a:extLst>
              <a:ext uri="{FF2B5EF4-FFF2-40B4-BE49-F238E27FC236}">
                <a16:creationId xmlns:a16="http://schemas.microsoft.com/office/drawing/2014/main" id="{886F5323-78E4-0151-3878-524E50A3D415}"/>
              </a:ext>
            </a:extLst>
          </p:cNvPr>
          <p:cNvSpPr txBox="1"/>
          <p:nvPr/>
        </p:nvSpPr>
        <p:spPr>
          <a:xfrm>
            <a:off x="5547550" y="555336"/>
            <a:ext cx="1924814" cy="600164"/>
          </a:xfrm>
          <a:prstGeom prst="rect">
            <a:avLst/>
          </a:prstGeom>
          <a:noFill/>
        </p:spPr>
        <p:txBody>
          <a:bodyPr wrap="square">
            <a:spAutoFit/>
          </a:bodyPr>
          <a:lstStyle/>
          <a:p>
            <a:pPr algn="ctr"/>
            <a:r>
              <a:rPr lang="fr-FR" sz="1100" dirty="0"/>
              <a:t>20 - Demande en attente de validation du responsable hiérarchique</a:t>
            </a:r>
          </a:p>
        </p:txBody>
      </p:sp>
      <p:sp>
        <p:nvSpPr>
          <p:cNvPr id="21" name="ZoneTexte 20">
            <a:extLst>
              <a:ext uri="{FF2B5EF4-FFF2-40B4-BE49-F238E27FC236}">
                <a16:creationId xmlns:a16="http://schemas.microsoft.com/office/drawing/2014/main" id="{2DA92A70-8FEE-5290-2600-5A3CCD090832}"/>
              </a:ext>
            </a:extLst>
          </p:cNvPr>
          <p:cNvSpPr txBox="1"/>
          <p:nvPr/>
        </p:nvSpPr>
        <p:spPr>
          <a:xfrm>
            <a:off x="8854748" y="282721"/>
            <a:ext cx="2532810" cy="430887"/>
          </a:xfrm>
          <a:prstGeom prst="rect">
            <a:avLst/>
          </a:prstGeom>
          <a:noFill/>
        </p:spPr>
        <p:txBody>
          <a:bodyPr wrap="square">
            <a:spAutoFit/>
          </a:bodyPr>
          <a:lstStyle/>
          <a:p>
            <a:r>
              <a:rPr lang="fr-FR" sz="1100" dirty="0">
                <a:solidFill>
                  <a:schemeClr val="accent6"/>
                </a:solidFill>
              </a:rPr>
              <a:t>22 - Approuvé par le responsable hiérarchique</a:t>
            </a:r>
          </a:p>
        </p:txBody>
      </p:sp>
      <p:sp>
        <p:nvSpPr>
          <p:cNvPr id="44" name="ZoneTexte 43">
            <a:extLst>
              <a:ext uri="{FF2B5EF4-FFF2-40B4-BE49-F238E27FC236}">
                <a16:creationId xmlns:a16="http://schemas.microsoft.com/office/drawing/2014/main" id="{1351762D-CDBF-441A-ED8D-8C71993666BB}"/>
              </a:ext>
            </a:extLst>
          </p:cNvPr>
          <p:cNvSpPr txBox="1"/>
          <p:nvPr/>
        </p:nvSpPr>
        <p:spPr>
          <a:xfrm>
            <a:off x="6678966" y="1283020"/>
            <a:ext cx="1915603" cy="430887"/>
          </a:xfrm>
          <a:prstGeom prst="rect">
            <a:avLst/>
          </a:prstGeom>
          <a:noFill/>
        </p:spPr>
        <p:txBody>
          <a:bodyPr wrap="square">
            <a:spAutoFit/>
          </a:bodyPr>
          <a:lstStyle/>
          <a:p>
            <a:r>
              <a:rPr lang="fr-FR" sz="1100" dirty="0">
                <a:solidFill>
                  <a:srgbClr val="FF0000"/>
                </a:solidFill>
              </a:rPr>
              <a:t>24 - Non approuvé par le responsable hiérarchique</a:t>
            </a:r>
          </a:p>
        </p:txBody>
      </p:sp>
      <p:sp>
        <p:nvSpPr>
          <p:cNvPr id="49" name="ZoneTexte 48">
            <a:extLst>
              <a:ext uri="{FF2B5EF4-FFF2-40B4-BE49-F238E27FC236}">
                <a16:creationId xmlns:a16="http://schemas.microsoft.com/office/drawing/2014/main" id="{16B71944-C0C3-E31B-77D8-BD465CDA7F97}"/>
              </a:ext>
            </a:extLst>
          </p:cNvPr>
          <p:cNvSpPr txBox="1"/>
          <p:nvPr/>
        </p:nvSpPr>
        <p:spPr>
          <a:xfrm>
            <a:off x="9660558" y="1957964"/>
            <a:ext cx="2145906" cy="261610"/>
          </a:xfrm>
          <a:prstGeom prst="rect">
            <a:avLst/>
          </a:prstGeom>
          <a:noFill/>
        </p:spPr>
        <p:txBody>
          <a:bodyPr wrap="square">
            <a:spAutoFit/>
          </a:bodyPr>
          <a:lstStyle/>
          <a:p>
            <a:r>
              <a:rPr lang="fr-FR" sz="1100" dirty="0">
                <a:solidFill>
                  <a:schemeClr val="accent6"/>
                </a:solidFill>
              </a:rPr>
              <a:t>362 Demande validée par la GAP</a:t>
            </a:r>
          </a:p>
        </p:txBody>
      </p:sp>
      <p:sp>
        <p:nvSpPr>
          <p:cNvPr id="51" name="ZoneTexte 50">
            <a:extLst>
              <a:ext uri="{FF2B5EF4-FFF2-40B4-BE49-F238E27FC236}">
                <a16:creationId xmlns:a16="http://schemas.microsoft.com/office/drawing/2014/main" id="{7AF044FB-FBD5-38A1-0B36-6518B14BEDC8}"/>
              </a:ext>
            </a:extLst>
          </p:cNvPr>
          <p:cNvSpPr txBox="1"/>
          <p:nvPr/>
        </p:nvSpPr>
        <p:spPr>
          <a:xfrm>
            <a:off x="9302254" y="1109664"/>
            <a:ext cx="2246664" cy="369332"/>
          </a:xfrm>
          <a:prstGeom prst="rect">
            <a:avLst/>
          </a:prstGeom>
          <a:noFill/>
        </p:spPr>
        <p:txBody>
          <a:bodyPr wrap="square">
            <a:spAutoFit/>
          </a:bodyPr>
          <a:lstStyle/>
          <a:p>
            <a:r>
              <a:rPr lang="fr-FR" sz="1800" dirty="0"/>
              <a:t> </a:t>
            </a:r>
            <a:r>
              <a:rPr lang="fr-FR" sz="1100" dirty="0">
                <a:solidFill>
                  <a:srgbClr val="FF0000"/>
                </a:solidFill>
              </a:rPr>
              <a:t>363 - Demande rejetée par la GAP</a:t>
            </a:r>
          </a:p>
        </p:txBody>
      </p:sp>
      <p:sp>
        <p:nvSpPr>
          <p:cNvPr id="53" name="ZoneTexte 52">
            <a:extLst>
              <a:ext uri="{FF2B5EF4-FFF2-40B4-BE49-F238E27FC236}">
                <a16:creationId xmlns:a16="http://schemas.microsoft.com/office/drawing/2014/main" id="{E44DD314-38A1-8EAE-6D64-1E70D49B4486}"/>
              </a:ext>
            </a:extLst>
          </p:cNvPr>
          <p:cNvSpPr txBox="1"/>
          <p:nvPr/>
        </p:nvSpPr>
        <p:spPr>
          <a:xfrm>
            <a:off x="9228875" y="1310453"/>
            <a:ext cx="2577589" cy="261610"/>
          </a:xfrm>
          <a:prstGeom prst="rect">
            <a:avLst/>
          </a:prstGeom>
          <a:noFill/>
        </p:spPr>
        <p:txBody>
          <a:bodyPr wrap="square">
            <a:spAutoFit/>
          </a:bodyPr>
          <a:lstStyle/>
          <a:p>
            <a:r>
              <a:rPr lang="fr-FR" sz="1100" dirty="0"/>
              <a:t>361 - Demande prise en charge par la GAP</a:t>
            </a:r>
          </a:p>
        </p:txBody>
      </p:sp>
      <p:sp>
        <p:nvSpPr>
          <p:cNvPr id="58" name="ZoneTexte 57">
            <a:extLst>
              <a:ext uri="{FF2B5EF4-FFF2-40B4-BE49-F238E27FC236}">
                <a16:creationId xmlns:a16="http://schemas.microsoft.com/office/drawing/2014/main" id="{56B92996-0769-B6E0-0A83-329D60B44448}"/>
              </a:ext>
            </a:extLst>
          </p:cNvPr>
          <p:cNvSpPr txBox="1"/>
          <p:nvPr/>
        </p:nvSpPr>
        <p:spPr>
          <a:xfrm>
            <a:off x="2284428" y="3572694"/>
            <a:ext cx="1621025" cy="261610"/>
          </a:xfrm>
          <a:prstGeom prst="rect">
            <a:avLst/>
          </a:prstGeom>
          <a:noFill/>
        </p:spPr>
        <p:txBody>
          <a:bodyPr wrap="square">
            <a:spAutoFit/>
          </a:bodyPr>
          <a:lstStyle/>
          <a:p>
            <a:r>
              <a:rPr lang="fr-FR" sz="1100" dirty="0">
                <a:solidFill>
                  <a:srgbClr val="FF0000"/>
                </a:solidFill>
              </a:rPr>
              <a:t>733 - Rejeté par l’agent</a:t>
            </a:r>
          </a:p>
        </p:txBody>
      </p:sp>
      <p:sp>
        <p:nvSpPr>
          <p:cNvPr id="59" name="ZoneTexte 58">
            <a:extLst>
              <a:ext uri="{FF2B5EF4-FFF2-40B4-BE49-F238E27FC236}">
                <a16:creationId xmlns:a16="http://schemas.microsoft.com/office/drawing/2014/main" id="{5DC9E092-54CA-9564-ADB3-256C679273A0}"/>
              </a:ext>
            </a:extLst>
          </p:cNvPr>
          <p:cNvSpPr txBox="1"/>
          <p:nvPr/>
        </p:nvSpPr>
        <p:spPr>
          <a:xfrm>
            <a:off x="2897189" y="3801681"/>
            <a:ext cx="1621025" cy="261610"/>
          </a:xfrm>
          <a:prstGeom prst="rect">
            <a:avLst/>
          </a:prstGeom>
          <a:noFill/>
        </p:spPr>
        <p:txBody>
          <a:bodyPr wrap="square">
            <a:spAutoFit/>
          </a:bodyPr>
          <a:lstStyle/>
          <a:p>
            <a:r>
              <a:rPr lang="fr-FR" sz="1100" dirty="0">
                <a:solidFill>
                  <a:schemeClr val="accent6"/>
                </a:solidFill>
              </a:rPr>
              <a:t>734 - Validé par l’agent</a:t>
            </a:r>
          </a:p>
        </p:txBody>
      </p:sp>
      <p:sp>
        <p:nvSpPr>
          <p:cNvPr id="60" name="ZoneTexte 59">
            <a:extLst>
              <a:ext uri="{FF2B5EF4-FFF2-40B4-BE49-F238E27FC236}">
                <a16:creationId xmlns:a16="http://schemas.microsoft.com/office/drawing/2014/main" id="{FCF724B2-FD47-29BB-6C52-C7C127E12B3C}"/>
              </a:ext>
            </a:extLst>
          </p:cNvPr>
          <p:cNvSpPr txBox="1"/>
          <p:nvPr/>
        </p:nvSpPr>
        <p:spPr>
          <a:xfrm>
            <a:off x="4315072" y="3521744"/>
            <a:ext cx="1976065" cy="430887"/>
          </a:xfrm>
          <a:prstGeom prst="rect">
            <a:avLst/>
          </a:prstGeom>
          <a:noFill/>
        </p:spPr>
        <p:txBody>
          <a:bodyPr wrap="square">
            <a:spAutoFit/>
          </a:bodyPr>
          <a:lstStyle/>
          <a:p>
            <a:r>
              <a:rPr lang="fr-FR" sz="1100" dirty="0">
                <a:solidFill>
                  <a:srgbClr val="FF0000"/>
                </a:solidFill>
              </a:rPr>
              <a:t>736 – Réalisé Non approuvé par le responsable hiérarchique</a:t>
            </a:r>
          </a:p>
        </p:txBody>
      </p:sp>
      <p:sp>
        <p:nvSpPr>
          <p:cNvPr id="61" name="ZoneTexte 60">
            <a:extLst>
              <a:ext uri="{FF2B5EF4-FFF2-40B4-BE49-F238E27FC236}">
                <a16:creationId xmlns:a16="http://schemas.microsoft.com/office/drawing/2014/main" id="{EF5866A8-9124-9484-21EF-471EE373D432}"/>
              </a:ext>
            </a:extLst>
          </p:cNvPr>
          <p:cNvSpPr txBox="1"/>
          <p:nvPr/>
        </p:nvSpPr>
        <p:spPr>
          <a:xfrm>
            <a:off x="5092613" y="3911119"/>
            <a:ext cx="2532810" cy="430887"/>
          </a:xfrm>
          <a:prstGeom prst="rect">
            <a:avLst/>
          </a:prstGeom>
          <a:noFill/>
        </p:spPr>
        <p:txBody>
          <a:bodyPr wrap="square">
            <a:spAutoFit/>
          </a:bodyPr>
          <a:lstStyle/>
          <a:p>
            <a:r>
              <a:rPr lang="fr-FR" sz="1100" dirty="0">
                <a:solidFill>
                  <a:schemeClr val="accent6"/>
                </a:solidFill>
              </a:rPr>
              <a:t>737 – Réalisé Approuvé par le responsable hiérarchique</a:t>
            </a:r>
          </a:p>
        </p:txBody>
      </p:sp>
      <p:sp>
        <p:nvSpPr>
          <p:cNvPr id="64" name="ZoneTexte 63">
            <a:extLst>
              <a:ext uri="{FF2B5EF4-FFF2-40B4-BE49-F238E27FC236}">
                <a16:creationId xmlns:a16="http://schemas.microsoft.com/office/drawing/2014/main" id="{945FC30F-73AD-6BE5-99E7-12B33292E541}"/>
              </a:ext>
            </a:extLst>
          </p:cNvPr>
          <p:cNvSpPr txBox="1"/>
          <p:nvPr/>
        </p:nvSpPr>
        <p:spPr>
          <a:xfrm>
            <a:off x="7851682" y="4317355"/>
            <a:ext cx="1485774" cy="600164"/>
          </a:xfrm>
          <a:prstGeom prst="rect">
            <a:avLst/>
          </a:prstGeom>
          <a:noFill/>
        </p:spPr>
        <p:txBody>
          <a:bodyPr wrap="square">
            <a:spAutoFit/>
          </a:bodyPr>
          <a:lstStyle/>
          <a:p>
            <a:r>
              <a:rPr lang="fr-FR" sz="1100" b="0" i="0" dirty="0">
                <a:solidFill>
                  <a:schemeClr val="accent6"/>
                </a:solidFill>
                <a:effectLst/>
                <a:latin typeface="Segoe UI" panose="020B0502040204020203" pitchFamily="34" charset="0"/>
              </a:rPr>
              <a:t>722 - TraitéeOk2AP –</a:t>
            </a:r>
            <a:r>
              <a:rPr lang="fr-FR" sz="1100" b="0" i="0">
                <a:solidFill>
                  <a:schemeClr val="accent6"/>
                </a:solidFill>
                <a:effectLst/>
                <a:latin typeface="Segoe UI" panose="020B0502040204020203" pitchFamily="34" charset="0"/>
              </a:rPr>
              <a:t>Traitement pointages en </a:t>
            </a:r>
            <a:r>
              <a:rPr lang="fr-FR" sz="1100" b="0" i="0" dirty="0">
                <a:solidFill>
                  <a:schemeClr val="accent6"/>
                </a:solidFill>
                <a:effectLst/>
                <a:latin typeface="Segoe UI" panose="020B0502040204020203" pitchFamily="34" charset="0"/>
              </a:rPr>
              <a:t>cours</a:t>
            </a:r>
            <a:endParaRPr lang="fr-FR" sz="1100" dirty="0">
              <a:solidFill>
                <a:schemeClr val="accent6"/>
              </a:solidFill>
            </a:endParaRPr>
          </a:p>
        </p:txBody>
      </p:sp>
      <p:sp>
        <p:nvSpPr>
          <p:cNvPr id="65" name="ZoneTexte 64">
            <a:extLst>
              <a:ext uri="{FF2B5EF4-FFF2-40B4-BE49-F238E27FC236}">
                <a16:creationId xmlns:a16="http://schemas.microsoft.com/office/drawing/2014/main" id="{65948C48-8941-F0EB-0555-6EF27299DEE5}"/>
              </a:ext>
            </a:extLst>
          </p:cNvPr>
          <p:cNvSpPr txBox="1"/>
          <p:nvPr/>
        </p:nvSpPr>
        <p:spPr>
          <a:xfrm>
            <a:off x="10063144" y="4037678"/>
            <a:ext cx="1485774" cy="600164"/>
          </a:xfrm>
          <a:prstGeom prst="rect">
            <a:avLst/>
          </a:prstGeom>
          <a:noFill/>
        </p:spPr>
        <p:txBody>
          <a:bodyPr wrap="square">
            <a:spAutoFit/>
          </a:bodyPr>
          <a:lstStyle/>
          <a:p>
            <a:r>
              <a:rPr lang="fr-FR" sz="1100" b="0" i="0" dirty="0">
                <a:solidFill>
                  <a:srgbClr val="FF0000"/>
                </a:solidFill>
                <a:effectLst/>
                <a:latin typeface="Segoe UI" panose="020B0502040204020203" pitchFamily="34" charset="0"/>
              </a:rPr>
              <a:t>724 - TraitéeKO2AP</a:t>
            </a:r>
          </a:p>
          <a:p>
            <a:r>
              <a:rPr lang="fr-FR" sz="1100" dirty="0">
                <a:solidFill>
                  <a:srgbClr val="FF0000"/>
                </a:solidFill>
                <a:latin typeface="Segoe UI" panose="020B0502040204020203" pitchFamily="34" charset="0"/>
              </a:rPr>
              <a:t>Traitement pointage en attente</a:t>
            </a:r>
            <a:endParaRPr lang="fr-FR" sz="1100" dirty="0">
              <a:solidFill>
                <a:srgbClr val="FF0000"/>
              </a:solidFill>
            </a:endParaRPr>
          </a:p>
        </p:txBody>
      </p:sp>
      <p:sp>
        <p:nvSpPr>
          <p:cNvPr id="67" name="ZoneTexte 66">
            <a:extLst>
              <a:ext uri="{FF2B5EF4-FFF2-40B4-BE49-F238E27FC236}">
                <a16:creationId xmlns:a16="http://schemas.microsoft.com/office/drawing/2014/main" id="{52F2A50E-9834-594E-4F01-9F6CAB1F0EFE}"/>
              </a:ext>
            </a:extLst>
          </p:cNvPr>
          <p:cNvSpPr txBox="1"/>
          <p:nvPr/>
        </p:nvSpPr>
        <p:spPr>
          <a:xfrm>
            <a:off x="8611876" y="5579431"/>
            <a:ext cx="1354771" cy="261610"/>
          </a:xfrm>
          <a:prstGeom prst="rect">
            <a:avLst/>
          </a:prstGeom>
          <a:noFill/>
        </p:spPr>
        <p:txBody>
          <a:bodyPr wrap="square">
            <a:spAutoFit/>
          </a:bodyPr>
          <a:lstStyle/>
          <a:p>
            <a:r>
              <a:rPr lang="fr-FR" sz="1100" dirty="0"/>
              <a:t>722 </a:t>
            </a:r>
            <a:r>
              <a:rPr lang="fr-FR" sz="1100"/>
              <a:t>- </a:t>
            </a:r>
            <a:r>
              <a:rPr lang="fr-FR" sz="1100" b="0" i="0">
                <a:solidFill>
                  <a:srgbClr val="FF0000"/>
                </a:solidFill>
                <a:effectLst/>
                <a:latin typeface="Segoe UI" panose="020B0502040204020203" pitchFamily="34" charset="0"/>
              </a:rPr>
              <a:t>TraitéeKO2AP</a:t>
            </a:r>
            <a:endParaRPr lang="fr-FR" sz="1100" dirty="0"/>
          </a:p>
        </p:txBody>
      </p:sp>
      <p:cxnSp>
        <p:nvCxnSpPr>
          <p:cNvPr id="70" name="Connecteur droit avec flèche 69">
            <a:extLst>
              <a:ext uri="{FF2B5EF4-FFF2-40B4-BE49-F238E27FC236}">
                <a16:creationId xmlns:a16="http://schemas.microsoft.com/office/drawing/2014/main" id="{44A20C2C-C38C-10DE-D8C3-B9EF43AE2555}"/>
              </a:ext>
            </a:extLst>
          </p:cNvPr>
          <p:cNvCxnSpPr>
            <a:cxnSpLocks/>
            <a:stCxn id="66" idx="2"/>
          </p:cNvCxnSpPr>
          <p:nvPr/>
        </p:nvCxnSpPr>
        <p:spPr>
          <a:xfrm flipH="1">
            <a:off x="8457908" y="4154899"/>
            <a:ext cx="963151" cy="1791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eur : en angle 72">
            <a:extLst>
              <a:ext uri="{FF2B5EF4-FFF2-40B4-BE49-F238E27FC236}">
                <a16:creationId xmlns:a16="http://schemas.microsoft.com/office/drawing/2014/main" id="{B88370F1-95D0-7C7C-13F9-A31AF7F50B61}"/>
              </a:ext>
            </a:extLst>
          </p:cNvPr>
          <p:cNvCxnSpPr>
            <a:stCxn id="34" idx="2"/>
            <a:endCxn id="46" idx="2"/>
          </p:cNvCxnSpPr>
          <p:nvPr/>
        </p:nvCxnSpPr>
        <p:spPr>
          <a:xfrm rot="16200000" flipH="1">
            <a:off x="3015656" y="3186434"/>
            <a:ext cx="1066214" cy="515218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ZoneTexte 75">
            <a:extLst>
              <a:ext uri="{FF2B5EF4-FFF2-40B4-BE49-F238E27FC236}">
                <a16:creationId xmlns:a16="http://schemas.microsoft.com/office/drawing/2014/main" id="{0C96A546-62BD-E9B4-533B-CE7103A51A58}"/>
              </a:ext>
            </a:extLst>
          </p:cNvPr>
          <p:cNvSpPr txBox="1"/>
          <p:nvPr/>
        </p:nvSpPr>
        <p:spPr>
          <a:xfrm>
            <a:off x="938403" y="4323523"/>
            <a:ext cx="2215790" cy="261610"/>
          </a:xfrm>
          <a:prstGeom prst="rect">
            <a:avLst/>
          </a:prstGeom>
          <a:noFill/>
        </p:spPr>
        <p:txBody>
          <a:bodyPr wrap="square">
            <a:spAutoFit/>
          </a:bodyPr>
          <a:lstStyle/>
          <a:p>
            <a:r>
              <a:rPr lang="fr-FR" sz="1100" b="0" i="0" dirty="0">
                <a:solidFill>
                  <a:srgbClr val="FF0000"/>
                </a:solidFill>
                <a:effectLst/>
                <a:latin typeface="Segoe UI" panose="020B0502040204020203" pitchFamily="34" charset="0"/>
              </a:rPr>
              <a:t>730 - Pointage rejeté par la GAP</a:t>
            </a:r>
            <a:endParaRPr lang="fr-FR" sz="1100" dirty="0">
              <a:solidFill>
                <a:srgbClr val="FF0000"/>
              </a:solidFill>
            </a:endParaRPr>
          </a:p>
        </p:txBody>
      </p:sp>
      <p:sp>
        <p:nvSpPr>
          <p:cNvPr id="77" name="ZoneTexte 76">
            <a:extLst>
              <a:ext uri="{FF2B5EF4-FFF2-40B4-BE49-F238E27FC236}">
                <a16:creationId xmlns:a16="http://schemas.microsoft.com/office/drawing/2014/main" id="{BF53A7F7-2FFB-0F74-6A22-8B7C6AD33ECD}"/>
              </a:ext>
            </a:extLst>
          </p:cNvPr>
          <p:cNvSpPr txBox="1"/>
          <p:nvPr/>
        </p:nvSpPr>
        <p:spPr>
          <a:xfrm>
            <a:off x="917733" y="5227816"/>
            <a:ext cx="2547694" cy="261610"/>
          </a:xfrm>
          <a:prstGeom prst="rect">
            <a:avLst/>
          </a:prstGeom>
          <a:noFill/>
        </p:spPr>
        <p:txBody>
          <a:bodyPr wrap="square">
            <a:spAutoFit/>
          </a:bodyPr>
          <a:lstStyle/>
          <a:p>
            <a:r>
              <a:rPr lang="fr-FR" sz="1100" b="0" i="0" dirty="0">
                <a:solidFill>
                  <a:schemeClr val="accent6"/>
                </a:solidFill>
                <a:effectLst/>
                <a:latin typeface="Segoe UI" panose="020B0502040204020203" pitchFamily="34" charset="0"/>
              </a:rPr>
              <a:t>731 - Pointage validé par la GAP</a:t>
            </a:r>
            <a:endParaRPr lang="fr-FR" sz="1100" dirty="0">
              <a:solidFill>
                <a:schemeClr val="accent6"/>
              </a:solidFill>
            </a:endParaRPr>
          </a:p>
        </p:txBody>
      </p:sp>
      <p:sp>
        <p:nvSpPr>
          <p:cNvPr id="79" name="ZoneTexte 78">
            <a:extLst>
              <a:ext uri="{FF2B5EF4-FFF2-40B4-BE49-F238E27FC236}">
                <a16:creationId xmlns:a16="http://schemas.microsoft.com/office/drawing/2014/main" id="{11E30043-F92E-9728-EA92-8CE7F0BA3FB1}"/>
              </a:ext>
            </a:extLst>
          </p:cNvPr>
          <p:cNvSpPr txBox="1"/>
          <p:nvPr/>
        </p:nvSpPr>
        <p:spPr>
          <a:xfrm>
            <a:off x="1033390" y="3849793"/>
            <a:ext cx="1121336" cy="600164"/>
          </a:xfrm>
          <a:prstGeom prst="rect">
            <a:avLst/>
          </a:prstGeom>
          <a:noFill/>
        </p:spPr>
        <p:txBody>
          <a:bodyPr wrap="square">
            <a:spAutoFit/>
          </a:bodyPr>
          <a:lstStyle/>
          <a:p>
            <a:r>
              <a:rPr lang="fr-FR" sz="1100" dirty="0">
                <a:solidFill>
                  <a:schemeClr val="accent6"/>
                </a:solidFill>
              </a:rPr>
              <a:t>735 – </a:t>
            </a:r>
            <a:r>
              <a:rPr lang="fr-FR" sz="1100">
                <a:solidFill>
                  <a:schemeClr val="accent6"/>
                </a:solidFill>
              </a:rPr>
              <a:t>Pointage révisé </a:t>
            </a:r>
            <a:r>
              <a:rPr lang="fr-FR" sz="1100" dirty="0">
                <a:solidFill>
                  <a:schemeClr val="accent6"/>
                </a:solidFill>
              </a:rPr>
              <a:t>par l’agent</a:t>
            </a:r>
          </a:p>
        </p:txBody>
      </p:sp>
      <p:cxnSp>
        <p:nvCxnSpPr>
          <p:cNvPr id="29" name="Connecteur droit avec flèche 28">
            <a:extLst>
              <a:ext uri="{FF2B5EF4-FFF2-40B4-BE49-F238E27FC236}">
                <a16:creationId xmlns:a16="http://schemas.microsoft.com/office/drawing/2014/main" id="{9B055A0B-83E1-BA12-214B-E85982AA4A32}"/>
              </a:ext>
            </a:extLst>
          </p:cNvPr>
          <p:cNvCxnSpPr>
            <a:endCxn id="35" idx="1"/>
          </p:cNvCxnSpPr>
          <p:nvPr/>
        </p:nvCxnSpPr>
        <p:spPr>
          <a:xfrm>
            <a:off x="4343402" y="1488297"/>
            <a:ext cx="2633888" cy="8005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Connecteur droit avec flèche 39">
            <a:extLst>
              <a:ext uri="{FF2B5EF4-FFF2-40B4-BE49-F238E27FC236}">
                <a16:creationId xmlns:a16="http://schemas.microsoft.com/office/drawing/2014/main" id="{F1251A83-875E-5D34-6C68-96D7FF5FEFA1}"/>
              </a:ext>
            </a:extLst>
          </p:cNvPr>
          <p:cNvCxnSpPr>
            <a:stCxn id="16" idx="6"/>
            <a:endCxn id="66" idx="0"/>
          </p:cNvCxnSpPr>
          <p:nvPr/>
        </p:nvCxnSpPr>
        <p:spPr>
          <a:xfrm>
            <a:off x="8580302" y="2843728"/>
            <a:ext cx="840757" cy="635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3010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9A97B6CF-FEE0-A34C-832C-F15EC9B9A568}"/>
              </a:ext>
            </a:extLst>
          </p:cNvPr>
          <p:cNvSpPr txBox="1"/>
          <p:nvPr/>
        </p:nvSpPr>
        <p:spPr>
          <a:xfrm>
            <a:off x="619122" y="612842"/>
            <a:ext cx="11172825" cy="1877437"/>
          </a:xfrm>
          <a:prstGeom prst="rect">
            <a:avLst/>
          </a:prstGeom>
          <a:noFill/>
        </p:spPr>
        <p:txBody>
          <a:bodyPr wrap="square" rtlCol="0">
            <a:spAutoFit/>
          </a:bodyPr>
          <a:lstStyle/>
          <a:p>
            <a:r>
              <a:rPr lang="fr-FR" sz="1400" dirty="0"/>
              <a:t>Demande :       0 A traiter</a:t>
            </a:r>
          </a:p>
          <a:p>
            <a:r>
              <a:rPr lang="fr-FR" sz="1400" dirty="0"/>
              <a:t>	    20 Demande en attente de validation du responsable hiérarchique</a:t>
            </a:r>
          </a:p>
          <a:p>
            <a:r>
              <a:rPr lang="fr-FR" sz="1400" dirty="0"/>
              <a:t>	    22 Approuvé par le responsable hiérarchique</a:t>
            </a:r>
          </a:p>
          <a:p>
            <a:r>
              <a:rPr lang="fr-FR" sz="1400" dirty="0"/>
              <a:t>	    24 Non approuvé par le responsable hiérarchique</a:t>
            </a:r>
          </a:p>
          <a:p>
            <a:r>
              <a:rPr lang="fr-FR" sz="1400" dirty="0"/>
              <a:t>	    361 Demande prise en charge par la GAP</a:t>
            </a:r>
          </a:p>
          <a:p>
            <a:r>
              <a:rPr lang="fr-FR" sz="1400" dirty="0"/>
              <a:t>	    362 Demande validée par la GAP</a:t>
            </a:r>
          </a:p>
          <a:p>
            <a:r>
              <a:rPr lang="fr-FR" sz="1400" dirty="0"/>
              <a:t>	    363 Demande rejetée par la GAP</a:t>
            </a:r>
          </a:p>
          <a:p>
            <a:r>
              <a:rPr lang="fr-FR" dirty="0"/>
              <a:t>	     		</a:t>
            </a:r>
          </a:p>
        </p:txBody>
      </p:sp>
      <p:sp>
        <p:nvSpPr>
          <p:cNvPr id="5" name="ZoneTexte 4">
            <a:extLst>
              <a:ext uri="{FF2B5EF4-FFF2-40B4-BE49-F238E27FC236}">
                <a16:creationId xmlns:a16="http://schemas.microsoft.com/office/drawing/2014/main" id="{79124966-A1F8-FCCC-3124-881B6FC5125C}"/>
              </a:ext>
            </a:extLst>
          </p:cNvPr>
          <p:cNvSpPr txBox="1"/>
          <p:nvPr/>
        </p:nvSpPr>
        <p:spPr>
          <a:xfrm>
            <a:off x="619121" y="219073"/>
            <a:ext cx="3714750" cy="369332"/>
          </a:xfrm>
          <a:prstGeom prst="rect">
            <a:avLst/>
          </a:prstGeom>
          <a:noFill/>
        </p:spPr>
        <p:txBody>
          <a:bodyPr wrap="square" rtlCol="0">
            <a:spAutoFit/>
          </a:bodyPr>
          <a:lstStyle/>
          <a:p>
            <a:r>
              <a:rPr lang="fr-FR" dirty="0"/>
              <a:t>Codes statuts</a:t>
            </a:r>
          </a:p>
        </p:txBody>
      </p:sp>
      <p:sp>
        <p:nvSpPr>
          <p:cNvPr id="6" name="ZoneTexte 5">
            <a:extLst>
              <a:ext uri="{FF2B5EF4-FFF2-40B4-BE49-F238E27FC236}">
                <a16:creationId xmlns:a16="http://schemas.microsoft.com/office/drawing/2014/main" id="{11D37A51-0D6A-65C2-4402-123AD579E91F}"/>
              </a:ext>
            </a:extLst>
          </p:cNvPr>
          <p:cNvSpPr txBox="1"/>
          <p:nvPr/>
        </p:nvSpPr>
        <p:spPr>
          <a:xfrm>
            <a:off x="619123" y="2409825"/>
            <a:ext cx="11172825" cy="1815882"/>
          </a:xfrm>
          <a:prstGeom prst="rect">
            <a:avLst/>
          </a:prstGeom>
          <a:noFill/>
        </p:spPr>
        <p:txBody>
          <a:bodyPr wrap="square" rtlCol="0">
            <a:spAutoFit/>
          </a:bodyPr>
          <a:lstStyle/>
          <a:p>
            <a:r>
              <a:rPr lang="fr-FR" sz="1400" dirty="0"/>
              <a:t>Semaine :                0 A traiter (Agent)   735 </a:t>
            </a:r>
            <a:r>
              <a:rPr lang="fr-FR" sz="1400" u="sng" dirty="0"/>
              <a:t>A revalider</a:t>
            </a:r>
          </a:p>
          <a:p>
            <a:r>
              <a:rPr lang="fr-FR" sz="1400" dirty="0"/>
              <a:t>	          734 Validé par l’agent</a:t>
            </a:r>
          </a:p>
          <a:p>
            <a:r>
              <a:rPr lang="fr-FR" sz="1400" dirty="0"/>
              <a:t>	          733 Rejeté par l’agent</a:t>
            </a:r>
          </a:p>
          <a:p>
            <a:r>
              <a:rPr lang="fr-FR" sz="1400" dirty="0"/>
              <a:t>	          22 Validé par le responsable hiérarchique 		</a:t>
            </a:r>
            <a:r>
              <a:rPr lang="fr-FR" sz="1400" dirty="0" err="1"/>
              <a:t>Trt</a:t>
            </a:r>
            <a:r>
              <a:rPr lang="fr-FR" sz="1400" dirty="0"/>
              <a:t> 2AP</a:t>
            </a:r>
          </a:p>
          <a:p>
            <a:r>
              <a:rPr lang="fr-FR" sz="1400" dirty="0"/>
              <a:t>	          24 Rejeté par le responsable hiérarchique 	  		</a:t>
            </a:r>
          </a:p>
          <a:p>
            <a:r>
              <a:rPr lang="fr-FR" sz="1400" dirty="0"/>
              <a:t>	          722 </a:t>
            </a:r>
            <a:r>
              <a:rPr lang="fr-FR" sz="1400" u="sng" dirty="0"/>
              <a:t>Pointages ok</a:t>
            </a:r>
          </a:p>
          <a:p>
            <a:r>
              <a:rPr lang="fr-FR" sz="1400" dirty="0"/>
              <a:t>	          724 </a:t>
            </a:r>
            <a:r>
              <a:rPr lang="fr-FR" sz="1400" u="sng" dirty="0"/>
              <a:t>Pointages ko </a:t>
            </a:r>
            <a:r>
              <a:rPr lang="fr-FR" sz="1400" dirty="0"/>
              <a:t>	</a:t>
            </a:r>
          </a:p>
          <a:p>
            <a:r>
              <a:rPr lang="fr-FR" sz="1400" dirty="0"/>
              <a:t>	    	     		</a:t>
            </a:r>
          </a:p>
        </p:txBody>
      </p:sp>
      <p:sp>
        <p:nvSpPr>
          <p:cNvPr id="7" name="ZoneTexte 6">
            <a:extLst>
              <a:ext uri="{FF2B5EF4-FFF2-40B4-BE49-F238E27FC236}">
                <a16:creationId xmlns:a16="http://schemas.microsoft.com/office/drawing/2014/main" id="{B800E879-A5D2-FDBA-FEAB-16CB7581E053}"/>
              </a:ext>
            </a:extLst>
          </p:cNvPr>
          <p:cNvSpPr txBox="1"/>
          <p:nvPr/>
        </p:nvSpPr>
        <p:spPr>
          <a:xfrm>
            <a:off x="619123" y="4153912"/>
            <a:ext cx="11172825" cy="1384995"/>
          </a:xfrm>
          <a:prstGeom prst="rect">
            <a:avLst/>
          </a:prstGeom>
          <a:noFill/>
        </p:spPr>
        <p:txBody>
          <a:bodyPr wrap="square" rtlCol="0">
            <a:spAutoFit/>
          </a:bodyPr>
          <a:lstStyle/>
          <a:p>
            <a:r>
              <a:rPr lang="fr-FR" sz="1400" dirty="0"/>
              <a:t>Résultats :              0 A traiter</a:t>
            </a:r>
          </a:p>
          <a:p>
            <a:r>
              <a:rPr lang="fr-FR" sz="1400" dirty="0"/>
              <a:t>	         730 Rejeté par la GAP</a:t>
            </a:r>
          </a:p>
          <a:p>
            <a:r>
              <a:rPr lang="fr-FR" sz="1400" dirty="0"/>
              <a:t>                                731 Pointage validé par la GAP </a:t>
            </a:r>
          </a:p>
          <a:p>
            <a:r>
              <a:rPr lang="fr-FR" sz="1400" dirty="0"/>
              <a:t>	         736 </a:t>
            </a:r>
            <a:r>
              <a:rPr lang="fr-FR" sz="1400" u="sng" dirty="0"/>
              <a:t>Mois de de paie validé</a:t>
            </a:r>
          </a:p>
          <a:p>
            <a:r>
              <a:rPr lang="fr-FR" sz="1400" dirty="0"/>
              <a:t>	          	          		</a:t>
            </a:r>
          </a:p>
          <a:p>
            <a:r>
              <a:rPr lang="fr-FR" sz="1400" dirty="0"/>
              <a:t>	    	     		</a:t>
            </a:r>
          </a:p>
        </p:txBody>
      </p:sp>
      <p:cxnSp>
        <p:nvCxnSpPr>
          <p:cNvPr id="8" name="Connecteur : en angle 7">
            <a:extLst>
              <a:ext uri="{FF2B5EF4-FFF2-40B4-BE49-F238E27FC236}">
                <a16:creationId xmlns:a16="http://schemas.microsoft.com/office/drawing/2014/main" id="{3B850512-397D-7BAC-E019-8603A141BB9E}"/>
              </a:ext>
            </a:extLst>
          </p:cNvPr>
          <p:cNvCxnSpPr>
            <a:cxnSpLocks/>
          </p:cNvCxnSpPr>
          <p:nvPr/>
        </p:nvCxnSpPr>
        <p:spPr>
          <a:xfrm rot="10800000" flipV="1">
            <a:off x="3295651" y="3428998"/>
            <a:ext cx="4295777" cy="30480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 en angle 11">
            <a:extLst>
              <a:ext uri="{FF2B5EF4-FFF2-40B4-BE49-F238E27FC236}">
                <a16:creationId xmlns:a16="http://schemas.microsoft.com/office/drawing/2014/main" id="{070CB830-438A-233B-B6E2-38D20106DC57}"/>
              </a:ext>
            </a:extLst>
          </p:cNvPr>
          <p:cNvCxnSpPr>
            <a:cxnSpLocks/>
          </p:cNvCxnSpPr>
          <p:nvPr/>
        </p:nvCxnSpPr>
        <p:spPr>
          <a:xfrm rot="10800000" flipV="1">
            <a:off x="2981326" y="3428998"/>
            <a:ext cx="4924425" cy="858263"/>
          </a:xfrm>
          <a:prstGeom prst="bentConnector3">
            <a:avLst>
              <a:gd name="adj1" fmla="val 2601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A47FBA94-8AC1-86CA-5A74-25DB40164136}"/>
              </a:ext>
            </a:extLst>
          </p:cNvPr>
          <p:cNvCxnSpPr/>
          <p:nvPr/>
        </p:nvCxnSpPr>
        <p:spPr>
          <a:xfrm flipV="1">
            <a:off x="1581150" y="2590800"/>
            <a:ext cx="0" cy="19621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C4F88F79-42C6-744C-21E9-FF23B0219E36}"/>
              </a:ext>
            </a:extLst>
          </p:cNvPr>
          <p:cNvCxnSpPr>
            <a:cxnSpLocks/>
          </p:cNvCxnSpPr>
          <p:nvPr/>
        </p:nvCxnSpPr>
        <p:spPr>
          <a:xfrm>
            <a:off x="1581150" y="2590800"/>
            <a:ext cx="4191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B54DF76E-2A6C-B6DB-0C11-53922885B9F0}"/>
              </a:ext>
            </a:extLst>
          </p:cNvPr>
          <p:cNvCxnSpPr>
            <a:cxnSpLocks/>
          </p:cNvCxnSpPr>
          <p:nvPr/>
        </p:nvCxnSpPr>
        <p:spPr>
          <a:xfrm flipH="1">
            <a:off x="1581150" y="4552950"/>
            <a:ext cx="29527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8A3A0AD0-ADB8-D55F-BA48-574AE0FC23A6}"/>
              </a:ext>
            </a:extLst>
          </p:cNvPr>
          <p:cNvCxnSpPr>
            <a:cxnSpLocks/>
          </p:cNvCxnSpPr>
          <p:nvPr/>
        </p:nvCxnSpPr>
        <p:spPr>
          <a:xfrm>
            <a:off x="5105400" y="3209925"/>
            <a:ext cx="8572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687B500D-A996-53D5-E0AF-CE2FE9869E56}"/>
              </a:ext>
            </a:extLst>
          </p:cNvPr>
          <p:cNvCxnSpPr/>
          <p:nvPr/>
        </p:nvCxnSpPr>
        <p:spPr>
          <a:xfrm>
            <a:off x="3295650" y="3571875"/>
            <a:ext cx="0" cy="35242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2122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B49AFA2E-9D45-2331-2D39-E0F8360CFFFF}"/>
              </a:ext>
            </a:extLst>
          </p:cNvPr>
          <p:cNvSpPr txBox="1"/>
          <p:nvPr/>
        </p:nvSpPr>
        <p:spPr>
          <a:xfrm>
            <a:off x="219074" y="133350"/>
            <a:ext cx="1981201" cy="5358913"/>
          </a:xfrm>
          <a:prstGeom prst="rect">
            <a:avLst/>
          </a:prstGeom>
          <a:noFill/>
        </p:spPr>
        <p:txBody>
          <a:bodyPr wrap="square" rtlCol="0">
            <a:spAutoFit/>
          </a:bodyPr>
          <a:lstStyle/>
          <a:p>
            <a:r>
              <a:rPr lang="fr-FR" b="1" u="sng" dirty="0"/>
              <a:t>Liste </a:t>
            </a:r>
            <a:r>
              <a:rPr lang="fr-FR" b="1" u="sng" dirty="0" err="1"/>
              <a:t>ATU_HS_SemaineAgent</a:t>
            </a:r>
            <a:endParaRPr lang="fr-FR" b="1" u="sng" dirty="0"/>
          </a:p>
          <a:p>
            <a:endParaRPr lang="fr-FR" dirty="0"/>
          </a:p>
          <a:p>
            <a:r>
              <a:rPr lang="fr-FR" dirty="0"/>
              <a:t>Reference</a:t>
            </a:r>
          </a:p>
          <a:p>
            <a:r>
              <a:rPr lang="fr-FR" dirty="0"/>
              <a:t>Login</a:t>
            </a:r>
          </a:p>
          <a:p>
            <a:r>
              <a:rPr lang="fr-FR" dirty="0" err="1"/>
              <a:t>NumeroSem</a:t>
            </a:r>
            <a:endParaRPr lang="fr-FR" dirty="0"/>
          </a:p>
          <a:p>
            <a:r>
              <a:rPr lang="fr-FR" dirty="0"/>
              <a:t>Statut</a:t>
            </a:r>
          </a:p>
          <a:p>
            <a:r>
              <a:rPr lang="fr-FR" dirty="0" err="1"/>
              <a:t>Libellestatut</a:t>
            </a:r>
            <a:endParaRPr lang="fr-FR" dirty="0"/>
          </a:p>
          <a:p>
            <a:r>
              <a:rPr lang="fr-FR" dirty="0" err="1"/>
              <a:t>CodeService</a:t>
            </a:r>
            <a:endParaRPr lang="fr-FR" dirty="0"/>
          </a:p>
          <a:p>
            <a:r>
              <a:rPr lang="fr-FR" dirty="0" err="1"/>
              <a:t>LibelleService</a:t>
            </a:r>
            <a:endParaRPr lang="fr-FR" dirty="0"/>
          </a:p>
          <a:p>
            <a:r>
              <a:rPr lang="fr-FR" dirty="0"/>
              <a:t>Direction</a:t>
            </a:r>
          </a:p>
          <a:p>
            <a:r>
              <a:rPr lang="fr-FR" dirty="0" err="1"/>
              <a:t>SousDirection</a:t>
            </a:r>
            <a:endParaRPr lang="fr-FR" dirty="0"/>
          </a:p>
          <a:p>
            <a:r>
              <a:rPr lang="fr-FR" dirty="0"/>
              <a:t>Site</a:t>
            </a:r>
          </a:p>
          <a:p>
            <a:r>
              <a:rPr lang="fr-FR" dirty="0"/>
              <a:t>Organisme</a:t>
            </a:r>
          </a:p>
          <a:p>
            <a:r>
              <a:rPr lang="fr-FR" dirty="0" err="1"/>
              <a:t>NomAgent</a:t>
            </a:r>
            <a:endParaRPr lang="fr-FR" dirty="0"/>
          </a:p>
          <a:p>
            <a:r>
              <a:rPr lang="fr-FR" dirty="0" err="1"/>
              <a:t>PrenomAgent</a:t>
            </a:r>
            <a:endParaRPr lang="fr-FR" dirty="0"/>
          </a:p>
          <a:p>
            <a:r>
              <a:rPr lang="fr-FR" dirty="0" err="1"/>
              <a:t>MailAgent</a:t>
            </a:r>
            <a:endParaRPr lang="fr-FR" dirty="0"/>
          </a:p>
          <a:p>
            <a:r>
              <a:rPr lang="fr-FR" dirty="0"/>
              <a:t> </a:t>
            </a:r>
          </a:p>
        </p:txBody>
      </p:sp>
      <p:sp>
        <p:nvSpPr>
          <p:cNvPr id="2" name="ZoneTexte 1">
            <a:extLst>
              <a:ext uri="{FF2B5EF4-FFF2-40B4-BE49-F238E27FC236}">
                <a16:creationId xmlns:a16="http://schemas.microsoft.com/office/drawing/2014/main" id="{00423E00-C084-056A-BBE8-D0AD5DA8A74A}"/>
              </a:ext>
            </a:extLst>
          </p:cNvPr>
          <p:cNvSpPr txBox="1"/>
          <p:nvPr/>
        </p:nvSpPr>
        <p:spPr>
          <a:xfrm>
            <a:off x="3581400" y="552450"/>
            <a:ext cx="7877175" cy="5078313"/>
          </a:xfrm>
          <a:prstGeom prst="rect">
            <a:avLst/>
          </a:prstGeom>
          <a:noFill/>
        </p:spPr>
        <p:txBody>
          <a:bodyPr wrap="square" rtlCol="0">
            <a:spAutoFit/>
          </a:bodyPr>
          <a:lstStyle/>
          <a:p>
            <a:r>
              <a:rPr lang="fr-FR" b="1" u="sng" dirty="0"/>
              <a:t>Regroupement des tables Agents/</a:t>
            </a:r>
            <a:r>
              <a:rPr lang="fr-FR" b="1" u="sng" dirty="0" err="1"/>
              <a:t>SemaineAgents</a:t>
            </a:r>
            <a:r>
              <a:rPr lang="fr-FR" b="1" u="sng" dirty="0"/>
              <a:t>/Résultats??  en 1 seule</a:t>
            </a:r>
          </a:p>
          <a:p>
            <a:endParaRPr lang="fr-FR" dirty="0"/>
          </a:p>
          <a:p>
            <a:r>
              <a:rPr lang="fr-FR" dirty="0"/>
              <a:t>Si 1 demande  = 1 semaine</a:t>
            </a:r>
          </a:p>
          <a:p>
            <a:endParaRPr lang="fr-FR" dirty="0"/>
          </a:p>
          <a:p>
            <a:pPr marL="285750" indent="-285750">
              <a:buFont typeface="Wingdings" panose="05000000000000000000" pitchFamily="2" charset="2"/>
              <a:buChar char="è"/>
            </a:pPr>
            <a:r>
              <a:rPr lang="fr-FR" dirty="0"/>
              <a:t>Possibilité de prendre la table agent pour gérer le statut de validation </a:t>
            </a:r>
          </a:p>
          <a:p>
            <a:r>
              <a:rPr lang="fr-FR" dirty="0"/>
              <a:t>De la demande/semaine/agent.</a:t>
            </a:r>
          </a:p>
          <a:p>
            <a:endParaRPr lang="fr-FR" dirty="0"/>
          </a:p>
          <a:p>
            <a:r>
              <a:rPr lang="fr-FR" dirty="0"/>
              <a:t>Sinon il faut conserver </a:t>
            </a:r>
            <a:r>
              <a:rPr lang="fr-FR" dirty="0" err="1"/>
              <a:t>SemaineAgents</a:t>
            </a:r>
            <a:r>
              <a:rPr lang="fr-FR" dirty="0"/>
              <a:t>/Résultats (fusion possible suivant automate)</a:t>
            </a:r>
          </a:p>
          <a:p>
            <a:endParaRPr lang="fr-FR" dirty="0"/>
          </a:p>
          <a:p>
            <a:r>
              <a:rPr lang="fr-FR" dirty="0"/>
              <a:t>Créer l’enregistrement de semaine agent a la validation de la demande ? (hors </a:t>
            </a:r>
            <a:r>
              <a:rPr lang="fr-FR" dirty="0" err="1"/>
              <a:t>powerautomate</a:t>
            </a:r>
            <a:r>
              <a:rPr lang="fr-FR" dirty="0"/>
              <a:t>)</a:t>
            </a:r>
          </a:p>
          <a:p>
            <a:r>
              <a:rPr lang="fr-FR" dirty="0"/>
              <a:t>Envoi des mails si la date de fin de la demande est passé. 1 seul mail</a:t>
            </a:r>
          </a:p>
          <a:p>
            <a:endParaRPr lang="fr-FR" dirty="0"/>
          </a:p>
          <a:p>
            <a:r>
              <a:rPr lang="fr-FR" dirty="0"/>
              <a:t>Alimenter les champs utiles aux filtres </a:t>
            </a:r>
            <a:r>
              <a:rPr lang="fr-FR" dirty="0" err="1"/>
              <a:t>tdb</a:t>
            </a:r>
            <a:r>
              <a:rPr lang="fr-FR" dirty="0"/>
              <a:t> !! Difficultés avec </a:t>
            </a:r>
            <a:r>
              <a:rPr lang="fr-FR" dirty="0" err="1"/>
              <a:t>PowerAtutomate</a:t>
            </a:r>
            <a:endParaRPr lang="fr-FR" dirty="0"/>
          </a:p>
          <a:p>
            <a:endParaRPr lang="fr-FR" dirty="0"/>
          </a:p>
          <a:p>
            <a:endParaRPr lang="fr-FR" dirty="0"/>
          </a:p>
          <a:p>
            <a:endParaRPr lang="fr-FR" dirty="0"/>
          </a:p>
        </p:txBody>
      </p:sp>
    </p:spTree>
    <p:extLst>
      <p:ext uri="{BB962C8B-B14F-4D97-AF65-F5344CB8AC3E}">
        <p14:creationId xmlns:p14="http://schemas.microsoft.com/office/powerpoint/2010/main" val="299652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A4F144E9-5EE6-BDB3-6F7C-5F2728D657F9}"/>
              </a:ext>
            </a:extLst>
          </p:cNvPr>
          <p:cNvSpPr txBox="1"/>
          <p:nvPr/>
        </p:nvSpPr>
        <p:spPr>
          <a:xfrm>
            <a:off x="323850" y="390525"/>
            <a:ext cx="11201400" cy="1754326"/>
          </a:xfrm>
          <a:prstGeom prst="rect">
            <a:avLst/>
          </a:prstGeom>
          <a:noFill/>
        </p:spPr>
        <p:txBody>
          <a:bodyPr wrap="square" rtlCol="0">
            <a:spAutoFit/>
          </a:bodyPr>
          <a:lstStyle/>
          <a:p>
            <a:r>
              <a:rPr lang="fr-FR" dirty="0"/>
              <a:t>Annexe : Cas particulier</a:t>
            </a:r>
          </a:p>
          <a:p>
            <a:endParaRPr lang="fr-FR" dirty="0"/>
          </a:p>
          <a:p>
            <a:endParaRPr lang="fr-FR" dirty="0"/>
          </a:p>
          <a:p>
            <a:r>
              <a:rPr lang="fr-FR" dirty="0"/>
              <a:t>                Demande 01                                                                                                            Demande 02 </a:t>
            </a:r>
          </a:p>
          <a:p>
            <a:r>
              <a:rPr lang="fr-FR" dirty="0"/>
              <a:t>	  du vendredi au lundi						 du vendredi au lundi            </a:t>
            </a:r>
          </a:p>
          <a:p>
            <a:endParaRPr lang="fr-FR" dirty="0"/>
          </a:p>
        </p:txBody>
      </p:sp>
      <p:cxnSp>
        <p:nvCxnSpPr>
          <p:cNvPr id="6" name="Connecteur droit 5">
            <a:extLst>
              <a:ext uri="{FF2B5EF4-FFF2-40B4-BE49-F238E27FC236}">
                <a16:creationId xmlns:a16="http://schemas.microsoft.com/office/drawing/2014/main" id="{48F31D34-1BFA-CCE1-B251-43ABB90A31B7}"/>
              </a:ext>
            </a:extLst>
          </p:cNvPr>
          <p:cNvCxnSpPr>
            <a:cxnSpLocks/>
          </p:cNvCxnSpPr>
          <p:nvPr/>
        </p:nvCxnSpPr>
        <p:spPr>
          <a:xfrm>
            <a:off x="1447800" y="1895475"/>
            <a:ext cx="1104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C3FE4113-206F-F43B-EEB9-25935427EE3D}"/>
              </a:ext>
            </a:extLst>
          </p:cNvPr>
          <p:cNvCxnSpPr>
            <a:cxnSpLocks/>
          </p:cNvCxnSpPr>
          <p:nvPr/>
        </p:nvCxnSpPr>
        <p:spPr>
          <a:xfrm>
            <a:off x="2895600" y="2057400"/>
            <a:ext cx="68389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4B5A7726-C979-D2A5-287D-8306CBD98C6E}"/>
              </a:ext>
            </a:extLst>
          </p:cNvPr>
          <p:cNvCxnSpPr/>
          <p:nvPr/>
        </p:nvCxnSpPr>
        <p:spPr>
          <a:xfrm>
            <a:off x="10182225" y="2286000"/>
            <a:ext cx="904875"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ZoneTexte 12">
            <a:extLst>
              <a:ext uri="{FF2B5EF4-FFF2-40B4-BE49-F238E27FC236}">
                <a16:creationId xmlns:a16="http://schemas.microsoft.com/office/drawing/2014/main" id="{325626FD-7A30-C386-84D2-F8010E679522}"/>
              </a:ext>
            </a:extLst>
          </p:cNvPr>
          <p:cNvSpPr txBox="1"/>
          <p:nvPr/>
        </p:nvSpPr>
        <p:spPr>
          <a:xfrm>
            <a:off x="4724400" y="2144851"/>
            <a:ext cx="2933700" cy="369332"/>
          </a:xfrm>
          <a:prstGeom prst="rect">
            <a:avLst/>
          </a:prstGeom>
          <a:noFill/>
        </p:spPr>
        <p:txBody>
          <a:bodyPr wrap="square" rtlCol="0">
            <a:spAutoFit/>
          </a:bodyPr>
          <a:lstStyle/>
          <a:p>
            <a:r>
              <a:rPr lang="fr-FR" dirty="0"/>
              <a:t>1 semaine sur 2 demandes</a:t>
            </a:r>
          </a:p>
        </p:txBody>
      </p:sp>
      <p:sp>
        <p:nvSpPr>
          <p:cNvPr id="14" name="ZoneTexte 13">
            <a:extLst>
              <a:ext uri="{FF2B5EF4-FFF2-40B4-BE49-F238E27FC236}">
                <a16:creationId xmlns:a16="http://schemas.microsoft.com/office/drawing/2014/main" id="{AF803619-5E92-5FC7-885E-E40D484B0D0C}"/>
              </a:ext>
            </a:extLst>
          </p:cNvPr>
          <p:cNvSpPr txBox="1"/>
          <p:nvPr/>
        </p:nvSpPr>
        <p:spPr>
          <a:xfrm>
            <a:off x="1085850" y="3238500"/>
            <a:ext cx="5391150" cy="1200329"/>
          </a:xfrm>
          <a:prstGeom prst="rect">
            <a:avLst/>
          </a:prstGeom>
          <a:noFill/>
        </p:spPr>
        <p:txBody>
          <a:bodyPr wrap="square" rtlCol="0">
            <a:spAutoFit/>
          </a:bodyPr>
          <a:lstStyle/>
          <a:p>
            <a:r>
              <a:rPr lang="fr-FR" dirty="0"/>
              <a:t>Si on génère les pointages pour 2 demandes sur 1 semaine = 2 validations </a:t>
            </a:r>
            <a:r>
              <a:rPr lang="fr-FR" dirty="0" err="1"/>
              <a:t>rh</a:t>
            </a:r>
            <a:r>
              <a:rPr lang="fr-FR" dirty="0"/>
              <a:t> ??? Risque d’erreur</a:t>
            </a:r>
          </a:p>
          <a:p>
            <a:endParaRPr lang="fr-FR" dirty="0"/>
          </a:p>
          <a:p>
            <a:r>
              <a:rPr lang="fr-FR" dirty="0"/>
              <a:t>-&gt; Les demandes seront faites sur 1 semaine</a:t>
            </a:r>
          </a:p>
        </p:txBody>
      </p:sp>
    </p:spTree>
    <p:extLst>
      <p:ext uri="{BB962C8B-B14F-4D97-AF65-F5344CB8AC3E}">
        <p14:creationId xmlns:p14="http://schemas.microsoft.com/office/powerpoint/2010/main" val="1679422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A5E3DFDA-6496-1473-61C7-21658585D22B}"/>
              </a:ext>
            </a:extLst>
          </p:cNvPr>
          <p:cNvSpPr txBox="1"/>
          <p:nvPr/>
        </p:nvSpPr>
        <p:spPr>
          <a:xfrm>
            <a:off x="638175" y="476250"/>
            <a:ext cx="7724775" cy="369332"/>
          </a:xfrm>
          <a:prstGeom prst="rect">
            <a:avLst/>
          </a:prstGeom>
          <a:noFill/>
        </p:spPr>
        <p:txBody>
          <a:bodyPr wrap="square" rtlCol="0">
            <a:spAutoFit/>
          </a:bodyPr>
          <a:lstStyle/>
          <a:p>
            <a:r>
              <a:rPr lang="fr-FR" dirty="0"/>
              <a:t>Validation pointages &amp; calcul HS</a:t>
            </a:r>
          </a:p>
        </p:txBody>
      </p:sp>
    </p:spTree>
    <p:extLst>
      <p:ext uri="{BB962C8B-B14F-4D97-AF65-F5344CB8AC3E}">
        <p14:creationId xmlns:p14="http://schemas.microsoft.com/office/powerpoint/2010/main" val="135915051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9618E51892316408EBEDE7ADCCC48CC" ma:contentTypeVersion="19" ma:contentTypeDescription="Crée un document." ma:contentTypeScope="" ma:versionID="a22ae328b544f8caa4e3dcf48adca260">
  <xsd:schema xmlns:xsd="http://www.w3.org/2001/XMLSchema" xmlns:xs="http://www.w3.org/2001/XMLSchema" xmlns:p="http://schemas.microsoft.com/office/2006/metadata/properties" xmlns:ns1="http://schemas.microsoft.com/sharepoint/v3" xmlns:ns2="e9498f14-4a3b-46f8-8f88-c890b8eaeb01" xmlns:ns3="b568ba3b-0a9e-4304-90bc-2f77e2aeea54" targetNamespace="http://schemas.microsoft.com/office/2006/metadata/properties" ma:root="true" ma:fieldsID="83fec29d968468b1821fafb3e3559fbf" ns1:_="" ns2:_="" ns3:_="">
    <xsd:import namespace="http://schemas.microsoft.com/sharepoint/v3"/>
    <xsd:import namespace="e9498f14-4a3b-46f8-8f88-c890b8eaeb01"/>
    <xsd:import namespace="b568ba3b-0a9e-4304-90bc-2f77e2aeea5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1:PublishingStartDate" minOccurs="0"/>
                <xsd:element ref="ns1:PublishingExpirationDate" minOccurs="0"/>
                <xsd:element ref="ns2:MediaServiceOCR" minOccurs="0"/>
                <xsd:element ref="ns2:MediaServiceLocation" minOccurs="0"/>
                <xsd:element ref="ns3:SharedWithUsers" minOccurs="0"/>
                <xsd:element ref="ns3:SharedWithDetails"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element ref="ns3:_dlc_DocId" minOccurs="0"/>
                <xsd:element ref="ns3:_dlc_DocIdUrl" minOccurs="0"/>
                <xsd:element ref="ns3:_dlc_DocIdPersistI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4"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15"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498f14-4a3b-46f8-8f88-c890b8eaeb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lcf76f155ced4ddcb4097134ff3c332f" ma:index="24" nillable="true" ma:taxonomy="true" ma:internalName="lcf76f155ced4ddcb4097134ff3c332f" ma:taxonomyFieldName="MediaServiceImageTags" ma:displayName="Balises d’images" ma:readOnly="false" ma:fieldId="{5cf76f15-5ced-4ddc-b409-7134ff3c332f}" ma:taxonomyMulti="true" ma:sspId="60315fbd-64dd-42b6-8821-119951e42b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3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568ba3b-0a9e-4304-90bc-2f77e2aeea54" elementFormDefault="qualified">
    <xsd:import namespace="http://schemas.microsoft.com/office/2006/documentManagement/types"/>
    <xsd:import namespace="http://schemas.microsoft.com/office/infopath/2007/PartnerControls"/>
    <xsd:element name="SharedWithUsers" ma:index="1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Partagé avec détails" ma:internalName="SharedWithDetails" ma:readOnly="true">
      <xsd:simpleType>
        <xsd:restriction base="dms:Note">
          <xsd:maxLength value="255"/>
        </xsd:restriction>
      </xsd:simpleType>
    </xsd:element>
    <xsd:element name="TaxCatchAll" ma:index="25" nillable="true" ma:displayName="Taxonomy Catch All Column" ma:hidden="true" ma:list="{f8829529-9629-4a0b-bd74-c4d0bbb25fbb}" ma:internalName="TaxCatchAll" ma:showField="CatchAllData" ma:web="b568ba3b-0a9e-4304-90bc-2f77e2aeea54">
      <xsd:complexType>
        <xsd:complexContent>
          <xsd:extension base="dms:MultiChoiceLookup">
            <xsd:sequence>
              <xsd:element name="Value" type="dms:Lookup" maxOccurs="unbounded" minOccurs="0" nillable="true"/>
            </xsd:sequence>
          </xsd:extension>
        </xsd:complexContent>
      </xsd:complexType>
    </xsd:element>
    <xsd:element name="_dlc_DocId" ma:index="27" nillable="true" ma:displayName="Valeur d’ID de document" ma:description="Valeur de l’ID de document affecté à cet élément." ma:indexed="true" ma:internalName="_dlc_DocId" ma:readOnly="true">
      <xsd:simpleType>
        <xsd:restriction base="dms:Text"/>
      </xsd:simpleType>
    </xsd:element>
    <xsd:element name="_dlc_DocIdUrl" ma:index="28"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9"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568ba3b-0a9e-4304-90bc-2f77e2aeea54" xsi:nil="true"/>
    <lcf76f155ced4ddcb4097134ff3c332f xmlns="e9498f14-4a3b-46f8-8f88-c890b8eaeb01">
      <Terms xmlns="http://schemas.microsoft.com/office/infopath/2007/PartnerControls"/>
    </lcf76f155ced4ddcb4097134ff3c332f>
    <PublishingExpirationDate xmlns="http://schemas.microsoft.com/sharepoint/v3" xsi:nil="true"/>
    <PublishingStartDate xmlns="http://schemas.microsoft.com/sharepoint/v3" xsi:nil="true"/>
    <SharedWithUsers xmlns="b568ba3b-0a9e-4304-90bc-2f77e2aeea54">
      <UserInfo>
        <DisplayName/>
        <AccountId xsi:nil="true"/>
        <AccountType/>
      </UserInfo>
    </SharedWithUsers>
    <_dlc_DocId xmlns="b568ba3b-0a9e-4304-90bc-2f77e2aeea54">R6FSRZZME63M-654197140-117724</_dlc_DocId>
    <_dlc_DocIdUrl xmlns="b568ba3b-0a9e-4304-90bc-2f77e2aeea54">
      <Url>https://recouv.sharepoint.com/sites/ACOSSDSISD-DOSDigitalOffresagentsRAD/_layouts/15/DocIdRedir.aspx?ID=R6FSRZZME63M-654197140-117724</Url>
      <Description>R6FSRZZME63M-654197140-117724</Description>
    </_dlc_DocIdUrl>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E829BAE5-85AC-4473-99A1-C87C8027BEAA}"/>
</file>

<file path=customXml/itemProps2.xml><?xml version="1.0" encoding="utf-8"?>
<ds:datastoreItem xmlns:ds="http://schemas.openxmlformats.org/officeDocument/2006/customXml" ds:itemID="{0C77F440-3AC6-4CEB-8895-2057ED77A429}"/>
</file>

<file path=customXml/itemProps3.xml><?xml version="1.0" encoding="utf-8"?>
<ds:datastoreItem xmlns:ds="http://schemas.openxmlformats.org/officeDocument/2006/customXml" ds:itemID="{CD1860D8-BB78-4532-8727-6C9F35B7F17D}"/>
</file>

<file path=customXml/itemProps4.xml><?xml version="1.0" encoding="utf-8"?>
<ds:datastoreItem xmlns:ds="http://schemas.openxmlformats.org/officeDocument/2006/customXml" ds:itemID="{B6A7DCAD-73BB-4D19-82D2-CAAADA70EDE9}"/>
</file>

<file path=docProps/app.xml><?xml version="1.0" encoding="utf-8"?>
<Properties xmlns="http://schemas.openxmlformats.org/officeDocument/2006/extended-properties" xmlns:vt="http://schemas.openxmlformats.org/officeDocument/2006/docPropsVTypes">
  <TotalTime>2850</TotalTime>
  <Words>782</Words>
  <Application>Microsoft Office PowerPoint</Application>
  <PresentationFormat>Grand écran</PresentationFormat>
  <Paragraphs>157</Paragraphs>
  <Slides>7</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7</vt:i4>
      </vt:variant>
    </vt:vector>
  </HeadingPairs>
  <TitlesOfParts>
    <vt:vector size="13" baseType="lpstr">
      <vt:lpstr>Arial</vt:lpstr>
      <vt:lpstr>Calibri</vt:lpstr>
      <vt:lpstr>Calibri Light</vt:lpstr>
      <vt:lpstr>Segoe UI</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DECOUFLET Thierry (Acoss)</dc:creator>
  <cp:lastModifiedBy>DECOUFLET Thierry (Acoss)</cp:lastModifiedBy>
  <cp:revision>47</cp:revision>
  <dcterms:created xsi:type="dcterms:W3CDTF">2024-11-12T07:09:09Z</dcterms:created>
  <dcterms:modified xsi:type="dcterms:W3CDTF">2024-12-16T13:46:50Z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0x010100F9618E51892316408EBEDE7ADCCC48CC</vt:lpwstr>
  </property>
  <property fmtid="{D5CDD505-2E9C-101B-9397-08002B2CF9AE}" pid="3" name="Order">
    <vt:r8>48500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MediaServiceImageTags">
    <vt:lpwstr/>
  </property>
  <property fmtid="{D5CDD505-2E9C-101B-9397-08002B2CF9AE}" pid="13" name="_dlc_DocIdItemGuid">
    <vt:lpwstr>8fb022e1-c7bc-4188-a2b1-f5ce7a07f48a</vt:lpwstr>
  </property>
</Properties>
</file>